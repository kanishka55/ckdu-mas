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209116c-de83-452d-d9f5-f8b79047663c}">
          <p14:sldIdLst>
            <p14:sldId id="256"/>
            <p14:sldId id="257"/>
            <p14:sldId id="258"/>
            <p14:sldId id="259"/>
            <p14:sldId id="260"/>
          </p14:sldIdLst>
        </p14:section>
        <p14:section name="System" id="{8fb9d9c0-5284-bcbb-0ba7-945914436bd0}">
          <p14:sldIdLst>
            <p14:sldId id="261"/>
            <p14:sldId id="262"/>
            <p14:sldId id="263"/>
            <p14:sldId id="264"/>
          </p14:sldIdLst>
        </p14:section>
        <p14:section name="Team parts" id="{dcb3e45a-3b88-02e9-ee6b-b79b1746d5a5}">
          <p14:sldIdLst>
            <p14:sldId id="265"/>
            <p14:sldId id="266"/>
            <p14:sldId id="267"/>
            <p14:sldId id="268"/>
          </p14:sldIdLst>
        </p14:section>
        <p14:section name="Results" id="{8b7a8418-0f09-c806-1fa2-fa4eb8e26cb4}">
          <p14:sldIdLst>
            <p14:sldId id="269"/>
            <p14:sldId id="270"/>
          </p14:sldIdLst>
        </p14:section>
        <p14:section name="Close" id="{60304d4a-f72a-53bb-c149-8f9ff6900fd6}">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4A55"/>
                </a:solidFill>
                <a:latin typeface="+mj-lt"/>
              </a:defRPr>
            </a:pPr>
            <a:r>
              <a:rPr sz="1400" b="0" i="0" u="none" strike="noStrike">
                <a:solidFill>
                  <a:srgbClr val="0E4A55"/>
                </a:solidFill>
                <a:latin typeface="+mj-lt"/>
              </a:rPr>
              <a:t>RO units, pool 3 (millions)</a:t>
            </a:r>
          </a:p>
        </c:rich>
      </c:tx>
      <c:layout/>
      <c:overlay val="0"/>
    </c:title>
    <c:autoTitleDeleted val="0"/>
    <c:plotArea>
      <c:layout/>
      <c:barChart>
        <c:barDir val="col"/>
        <c:grouping val="clustered"/>
        <c:varyColors val="0"/>
        <c:ser>
          <c:idx val="0"/>
          <c:order val="0"/>
          <c:tx>
            <c:strRef>
              <c:f>Sheet1!$B$1</c:f>
              <c:strCache>
                <c:ptCount val="1"/>
                <c:pt idx="0">
                  <c:v>RO units</c:v>
                </c:pt>
              </c:strCache>
            </c:strRef>
          </c:tx>
          <c:spPr>
            <a:solidFill>
              <a:srgbClr val="0E4A55"/>
            </a:solidFill>
            <a:effectLst/>
          </c:spPr>
          <c:invertIfNegative val="0"/>
          <c:dLbls>
            <c:numFmt formatCode="0.0"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dPt>
            <c:idx val="0"/>
            <c:invertIfNegative val="0"/>
            <c:bubble3D val="0"/>
            <c:spPr>
              <a:solidFill>
                <a:srgbClr val="0E4A55"/>
              </a:solidFill>
              <a:effectLst/>
            </c:spPr>
          </c:dPt>
          <c:dPt>
            <c:idx val="1"/>
            <c:invertIfNegative val="0"/>
            <c:bubble3D val="0"/>
            <c:spPr>
              <a:solidFill>
                <a:srgbClr val="9AAFB3"/>
              </a:solidFill>
              <a:effectLst/>
            </c:spPr>
          </c:dPt>
          <c:dPt>
            <c:idx val="2"/>
            <c:invertIfNegative val="0"/>
            <c:bubble3D val="0"/>
            <c:spPr>
              <a:solidFill>
                <a:srgbClr val="9AAFB3"/>
              </a:solidFill>
              <a:effectLst/>
            </c:spPr>
          </c:dPt>
          <c:cat>
            <c:multiLvlStrRef>
              <c:f>Sheet1!$A$2:$A$4</c:f>
              <c:multiLvlStrCache>
                <c:ptCount val="3"/>
                <c:lvl>
                  <c:pt idx="0">
                    <c:v>Contract Net</c:v>
                  </c:pt>
                  <c:pt idx="1">
                    <c:v>Equal split</c:v>
                  </c:pt>
                  <c:pt idx="2">
                    <c:v>First-come</c:v>
                  </c:pt>
                </c:lvl>
              </c:multiLvlStrCache>
            </c:multiLvlStrRef>
          </c:cat>
          <c:val>
            <c:numRef>
              <c:f>Sheet1!$B$2:$B$4</c:f>
              <c:numCache>
                <c:formatCode>General</c:formatCode>
                <c:ptCount val="3"/>
                <c:pt idx="0">
                  <c:v>23.5</c:v>
                </c:pt>
                <c:pt idx="1">
                  <c:v>18.7</c:v>
                </c:pt>
                <c:pt idx="2">
                  <c:v>23.5</c:v>
                </c:pt>
              </c:numCache>
            </c:numRef>
          </c:val>
        </c:ser>
        <c:dLbls>
          <c:numFmt formatCode="0.0"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max val="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4A55"/>
                </a:solidFill>
                <a:latin typeface="+mj-lt"/>
              </a:defRPr>
            </a:pPr>
            <a:r>
              <a:rPr sz="1400" b="0" i="0" u="none" strike="noStrike">
                <a:solidFill>
                  <a:srgbClr val="0E4A55"/>
                </a:solidFill>
                <a:latin typeface="+mj-lt"/>
              </a:rPr>
              <a:t>Water bowsers, pool 3 (millions)</a:t>
            </a:r>
          </a:p>
        </c:rich>
      </c:tx>
      <c:layout/>
      <c:overlay val="0"/>
    </c:title>
    <c:autoTitleDeleted val="0"/>
    <c:plotArea>
      <c:layout/>
      <c:barChart>
        <c:barDir val="col"/>
        <c:grouping val="clustered"/>
        <c:varyColors val="0"/>
        <c:ser>
          <c:idx val="0"/>
          <c:order val="0"/>
          <c:tx>
            <c:strRef>
              <c:f>Sheet1!$B$1</c:f>
              <c:strCache>
                <c:ptCount val="1"/>
                <c:pt idx="0">
                  <c:v>Bowsers</c:v>
                </c:pt>
              </c:strCache>
            </c:strRef>
          </c:tx>
          <c:spPr>
            <a:solidFill>
              <a:srgbClr val="0E4A55"/>
            </a:solidFill>
            <a:effectLst/>
          </c:spPr>
          <c:invertIfNegative val="0"/>
          <c:dLbls>
            <c:numFmt formatCode="0.0"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dPt>
            <c:idx val="0"/>
            <c:invertIfNegative val="0"/>
            <c:bubble3D val="0"/>
            <c:spPr>
              <a:solidFill>
                <a:srgbClr val="0E4A55"/>
              </a:solidFill>
              <a:effectLst/>
            </c:spPr>
          </c:dPt>
          <c:dPt>
            <c:idx val="1"/>
            <c:invertIfNegative val="0"/>
            <c:bubble3D val="0"/>
            <c:spPr>
              <a:solidFill>
                <a:srgbClr val="9AAFB3"/>
              </a:solidFill>
              <a:effectLst/>
            </c:spPr>
          </c:dPt>
          <c:dPt>
            <c:idx val="2"/>
            <c:invertIfNegative val="0"/>
            <c:bubble3D val="0"/>
            <c:spPr>
              <a:solidFill>
                <a:srgbClr val="9AAFB3"/>
              </a:solidFill>
              <a:effectLst/>
            </c:spPr>
          </c:dPt>
          <c:cat>
            <c:multiLvlStrRef>
              <c:f>Sheet1!$A$2:$A$4</c:f>
              <c:multiLvlStrCache>
                <c:ptCount val="3"/>
                <c:lvl>
                  <c:pt idx="0">
                    <c:v>Contract Net</c:v>
                  </c:pt>
                  <c:pt idx="1">
                    <c:v>Equal split</c:v>
                  </c:pt>
                  <c:pt idx="2">
                    <c:v>First-come</c:v>
                  </c:pt>
                </c:lvl>
              </c:multiLvlStrCache>
            </c:multiLvlStrRef>
          </c:cat>
          <c:val>
            <c:numRef>
              <c:f>Sheet1!$B$2:$B$4</c:f>
              <c:numCache>
                <c:formatCode>General</c:formatCode>
                <c:ptCount val="3"/>
                <c:pt idx="0">
                  <c:v>171.3</c:v>
                </c:pt>
                <c:pt idx="1">
                  <c:v>51.2</c:v>
                </c:pt>
                <c:pt idx="2">
                  <c:v>158</c:v>
                </c:pt>
              </c:numCache>
            </c:numRef>
          </c:val>
        </c:ser>
        <c:dLbls>
          <c:numFmt formatCode="0.0"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max val="2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being here.
We are going to present our Multi-Agent Systems project. It is called the CKDu Well-Water Safety Network.
In simple words, we built a group of small software programs, called agents, that work together. They look at the quality of well water in eleven village areas in Sri Lanka, they find the villages where the water looks risky, and they share a very small number of safe-water resources between those villages.
Before we start, I want to say one important thing. Our system gives risk indicators, based on published water-quality research. It does not diagnose CKDu, and it does not say that water causes CKDu. We will come back to this point a few times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 me introduce our team. There are four of us.
We divided the work by following the flow of messages in the system, from start to finish.
Member A worked on the data and the first two agents: the Clock agent and the Well Monitor agent.
Member B worked on the risk scoring, which means the water quality score and the hotspot agent.
Member C worked on the village agents and the negotiation between them.
And Member D worked on the alerts, the evaluation of the results, and the dashboard.
Later in the presentation, each of us will come up and explain our own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for our talk today.
We will start with the problem and our objectives. Then we will explain why a multi-agent system is a good fit for this problem.
After that, we will show you the architecture, and walk through one simulated month, so you can see how everything works together. Then we will talk about the data we used.
In the middle, each team member will present their own part. And at the end, we will show our results, talk honestly about the limitations, and then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start with the problem.
CKDu means chronic kidney disease of unknown cause. It mostly affects farming communities in the dry zone of Sri Lanka, especially the North Central Province.
The number on the right shows how big this problem is. Hospital registers in the North Central Province recorded more than thirty thousand five hundred CKD and CKDu patients between 2003 and 2016.
Many studies have found a link between CKDu and the quality of drinking well water. For example, hard water, high fluoride, and dissolved organic carbon. But scientists still do not agree on the exact cause.
Today, well testing, patient records, and the response to the problem are not connected to each other. That is the gap we tried to address.
And again, as you can see in the box at the bottom, our system only gives risk indicators. It never makes a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that problem, we set four objectives for our project.
The first one is to score. Every month, we score the water of every well using a published Water Quality Index.
The second is to prioritise. We want to find hotspots, which are villages that stay high-risk month after month, not just for one month.
The third is to allocate. Safe-water resources like RO water filters and water bowsers are very limited. We wanted the agents to share them through negotiation, instead of using a fixed rule.
And the fourth is to alert. We send early and calm messages to the affected villages, and these messages never diagnose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might ask: why did we use a multi-agent system for this? Why not just one normal program?
There are three main reasons.
The first is autonomy. Each village agent makes its own decision. It decides by itself whether it needs a unit and should bid for it, or whether it should refuse.
The second is distributed knowledge. No single agent can see all the data. Each agent knows only its own part, and the only way information moves is through messages.
The third, and the most important, is coordination under scarcity. We have only three RO units for eleven villages. So this is a real negotiation problem, not just sorting a list.
We built the system in Python, using a framework called SPADE. In SPADE, agents talk to each other through a chat server, using standard FIPA messages. A full simulation run starts 31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whole system on one page.
Let's follow the top row from left to right. The Clock agent starts each new month. The Well Monitor agent then sends that month's water readings. The Risk Scoring agent calculates a water quality score for each village. The Hotspot agent checks if a village has stayed risky, and the Alert agent sends a warning message when it is needed.
Now look at the bottom row. The Risk Scoring agent also sends every village its own score. Then the eleven village agents negotiate with the Resource Coordinator to decide who gets the RO units. For this, they use a protocol called Contract Net.
The orange letter on each box shows which team member built that agent.
And one more important point: every arrow on this slide is a real message, and every message is saved in a log file, with the time, the sender, the receiver and the message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easier to understand, let's walk through one simulated month. These seven steps happen every month, and the simulation repeats them for twelve months.
First, the Clock says a new month has started. Second, the Well Monitor sends twenty well readings for each village. Third, Risk Scoring gives each village a score and a risk tier. Fourth, the Hotspot agent checks for villages that keep having bad water. Fifth, the Alert agent sends a calm message if a village is risky. Sixth, the villages negotiate for the RO units. And seventh, every message is written into the log.
Let me give you a real example from our run. In the first month, October, four villages had Poor water. There were three RO units. Talawa won a unit, but in our test it could not accept the delivery. So the unit was offered again in a second round, and Padaviya received it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the data, because this is very important for an honest project.
We used two kinds of data, and we always keep them separate.
On the left is the real, published data. The water quality index method, the weights and the safe limits come from Cooray and colleagues, published in 2019. The population of each area comes from the 2012 national census, and the locations come from OpenStreetMap.
On the right is the synthetic data. The individual well readings are not published, so we generated four hundred and forty well readings: twenty wells for each of the eleven areas, for two seasons. We made them from the published averages and ranges, and we used a fixed random seed, so anyone can repeat our results.
Every synthetic row is clearly labelled as synthetic, so no one can confuse it with real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will now explain Part A, which is the data and the first two agents.
The first piece is the data layer. It loads the published data and the synthetic well readings. It also checks the data carefully, and it makes sure that real data and synthetic data are never mixed by mistake.
The second piece is the Clock agent. Its job is simple but important. Every simulated month, it sends a message called month tick, which says which month it is and which season it is, wet or dry.
The third piece is the Well Monitor agent. When it receives the month tick, it sends each village's twenty well readings to the Risk Scoring agent. You can see an example of that message on the right.
So for every month, one tick comes in, and eleven messages go out, one for each village.
Our data only has two seasons, so the months from October to January use the wet-season values, and the other months use the dry-season values. That is all for Part A. Now I will hand over to Member B for the risk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will explain Part B, which is how we turn the water readings into a risk score.
We use the Water Quality Index from Cooray and colleagues. For each parameter, like fluoride or hardness, we compare the measured value with the Sri Lankan drinking-water standard. Then we multiply it by a published weight and add everything together. That is the formula you see at the top.
One honest point here: the published index uses thirteen parameters, but our data has only eight of them. So we use a reduced version of the index, and we clearly say that.
For each village, we take the median score of its twenty wells. Then we put that score into one of the five published tiers you can see on the right, from Excellent to Unsuitable.
Finally, we call a village a hotspot if it is Poor or worse for two months in a row. This two-month rule is our own project choice, not a published rule.
Now Member C will explain how the villages negotiate.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will explain Part C, which is the negotiation. This is the core of our multi-agent system.
We use the FIPA Contract Net Protocol. On the left you can see how the messages go.
First, the Coordinator sends a call for proposals to all eleven villages. Basically it says: I have three units, who needs one?
Then each village decides on its own. If its water is Good, or if it already has an RO unit, it refuses. If its water is Poor or worse, it sends a bid. The bid is the water score multiplied by the population, so villages with worse water and more people get higher bids.
The Coordinator accepts the highest bids and rejects the others. Then each winner confirms. But if a winner cannot take the unit, it sends a failure message, and the unit is offered again in a new round.
You can see this at the bottom of the card. In month zero, Talawa won but sent a failure, so in round two, Padaviya got the unit.
Now Member D will talk about the alerts and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will explain Part D, which covers the alerts, the evaluation, and the dashboard.
Let's start with the alerts. We designed them to be calm and useful, not scary. For a village with Poor water, the message says to use an alternate source, like RO-treated or piped water, for drinking and cooking. For a hotspot village, it also says that screening is available at the nearest clinic. And it never gives a diagnosis.
Next is the evaluation. We compare our negotiation with two simple methods, called equal split and first-come. We also measure how fast alerts are sent, and how many negotiation rounds are needed. We could not measure risk alignment yet, because we do not have a sourced reference to compare with.
Finally, we built a dashboard using Streamlit. It shows a map of the risk, the allocation results, and what each agent is doing.
If we have time, we can show a short live demo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results, starting with the allocation.
To compare the methods, we used a score called risk-weighted population served. Simply, it counts how many people with Poor or worse water were helped, and gives more weight to villages with worse water. A higher number is better.
On the left are the RO units. Our Contract Net served 23.5 million, compared with 18.7 million for equal split. So the negotiation clearly did better than giving units out in turn.
You will notice that it is equal to first-come here. That is because RO units are permanent. Over twelve months, every village that needs one gets one in the end, so the total is the same. The difference is that Contract Net gives the units to the villages with the worst water first.
On the right are the water bowsers, which are needed again every month. Here the difference is very clear. Contract Net served 171.3 million, first-come 158 million, and equal split only 51.2 million.
Please remember that the data is synthetic, and the risk weight is our own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that the whole system works together correctly.
In one twelve-month run, 31 agents were running at the same time, and they sent 1,131 messages. Every one of those messages was saved in the log. The run finished with zero failures.
On average, an alert was sent 0.36 seconds after the risk score arrived.
In the middle, you can see that all seven message types of the Contract Net Protocol were used, including one failure message. That failure is the reason month zero needed a second round. Every other month needed only one round.
In total, 5 RO units were placed, and no village ever received two.
We also have 320 automated tests, and all of them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our project has some limitations, and we want to be open about them.
The well readings are synthetic. So our results show how the system works, but they are not real-world outcomes. We only have two seasons of data, which we repeat across the months, and we use eight of the thirteen index parameters. The hotspot rule and the risk weight are our own definitions. And the delivery failure in month zero was a test case that we added on purpose.
On the ethics side, we were very careful. We did not use any individual patient data, only published totals. The system gives risk indicators only, never a diagnosis. We never claim that water causes CKDu. And all synthetic data is clearly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here are the main sources we used.
On the left are the research and data sources. Our water quality method and the water statistics come
from Cooray and colleagues, 2019. The patient numbers come from Ranasinghe and colleagues, 2019, and
some of the safe limits come from Nikagolla and colleagues, 2020. The population comes from the 2012
census, and the locations from OpenStreetMap.
On the right are the methods and tools. The Contract Net Protocol was first described by Reid Smith
in 1980, and we follow the FIPA standard version of it. We built our agents with SPADE, a Python
framework for multi-agent systems.
All the full references are also listed in our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conclude.
We built a working multi-agent system with seven types of agents, 31 agents in total, and a full Contract Net negotiation, including failure and re-offer.
The negotiation gives the scarce resources to the villages with the worst water first, and it performs better than an equal split.
And everything we produce is honest, clearly labelled, and never a diagnosis.
In the future, the system could be improved by using real well measurements, all thirteen water quality parameters, and a delivery cost for bowsers based on distance.
Thank you very much for listening. We are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4A55"/>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457200" y="4754880"/>
            <a:ext cx="5943600" cy="256032"/>
          </a:xfrm>
          <a:prstGeom prst="rect">
            <a:avLst/>
          </a:prstGeom>
          <a:noFill/>
          <a:ln/>
        </p:spPr>
        <p:txBody>
          <a:bodyPr wrap="square" lIns="0" tIns="0" rIns="0" bIns="0" rtlCol="0" anchor="ctr"/>
          <a:lstStyle/>
          <a:p>
            <a:pPr indent="0" marL="0">
              <a:buNone/>
            </a:pPr>
            <a:r>
              <a:rPr lang="en-US" sz="1000" dirty="0">
                <a:solidFill>
                  <a:schemeClr val="accent6"/>
                </a:solidFill>
              </a:rPr>
              <a:t>CKDu Well-Water Safety Network  ·  Multi-Agent Systems</a:t>
            </a:r>
            <a:endParaRPr lang="en-US" sz="10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rse"/>
          <p:cNvSpPr txBox="1"/>
          <p:nvPr/>
        </p:nvSpPr>
        <p:spPr>
          <a:xfrm>
            <a:off x="548640" y="502920"/>
            <a:ext cx="6035040" cy="320040"/>
          </a:xfrm>
          <a:prstGeom prst="rect">
            <a:avLst/>
          </a:prstGeom>
          <a:noFill/>
          <a:ln/>
        </p:spPr>
        <p:txBody>
          <a:bodyPr wrap="square" lIns="0" tIns="0" rIns="0" bIns="0" rtlCol="0" anchor="ctr"/>
          <a:lstStyle/>
          <a:p>
            <a:pPr indent="0" marL="0">
              <a:buNone/>
            </a:pPr>
            <a:r>
              <a:rPr lang="en-US" sz="1400" dirty="0">
                <a:solidFill>
                  <a:srgbClr val="A9D3D8"/>
                </a:solidFill>
              </a:rPr>
              <a:t>MSc in Data Science and Artificial Intelligence  ·  Multi-Agent Systems</a:t>
            </a:r>
            <a:endParaRPr lang="en-US" sz="1400" dirty="0"/>
          </a:p>
        </p:txBody>
      </p:sp>
      <p:sp>
        <p:nvSpPr>
          <p:cNvPr id="3" name="deck title"/>
          <p:cNvSpPr txBox="1"/>
          <p:nvPr/>
        </p:nvSpPr>
        <p:spPr>
          <a:xfrm>
            <a:off x="548640" y="914400"/>
            <a:ext cx="6035040" cy="11887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CKDu Well-Water Safety Network</a:t>
            </a:r>
            <a:endParaRPr lang="en-US" sz="4000" dirty="0"/>
          </a:p>
        </p:txBody>
      </p:sp>
      <p:sp>
        <p:nvSpPr>
          <p:cNvPr id="4" name="subtitle"/>
          <p:cNvSpPr txBox="1"/>
          <p:nvPr/>
        </p:nvSpPr>
        <p:spPr>
          <a:xfrm>
            <a:off x="548640" y="2103120"/>
            <a:ext cx="6035040" cy="411480"/>
          </a:xfrm>
          <a:prstGeom prst="rect">
            <a:avLst/>
          </a:prstGeom>
          <a:noFill/>
          <a:ln/>
        </p:spPr>
        <p:txBody>
          <a:bodyPr wrap="square" lIns="0" tIns="0" rIns="0" bIns="0" rtlCol="0" anchor="ctr"/>
          <a:lstStyle/>
          <a:p>
            <a:pPr indent="0" marL="0">
              <a:buNone/>
            </a:pPr>
            <a:r>
              <a:rPr lang="en-US" sz="1800" i="1" dirty="0">
                <a:solidFill>
                  <a:srgbClr val="E8F3F4"/>
                </a:solidFill>
              </a:rPr>
              <a:t>A multi-agent risk-indicator and safe-water allocation system</a:t>
            </a:r>
            <a:endParaRPr lang="en-US" sz="1800" dirty="0"/>
          </a:p>
        </p:txBody>
      </p:sp>
      <p:sp>
        <p:nvSpPr>
          <p:cNvPr id="5" name="university block"/>
          <p:cNvSpPr txBox="1"/>
          <p:nvPr/>
        </p:nvSpPr>
        <p:spPr>
          <a:xfrm>
            <a:off x="548640" y="2880360"/>
            <a:ext cx="6035040" cy="146304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rPr>
              <a:t>University of Sri Jayewardenepura</a:t>
            </a:r>
            <a:endParaRPr lang="en-US" sz="1600" dirty="0"/>
          </a:p>
          <a:p>
            <a:pPr indent="0" marL="0">
              <a:spcAft>
                <a:spcPts val="400"/>
              </a:spcAft>
              <a:buNone/>
            </a:pPr>
            <a:r>
              <a:rPr lang="en-US" sz="1600" dirty="0">
                <a:solidFill>
                  <a:srgbClr val="F2A07B"/>
                </a:solidFill>
              </a:rPr>
              <a:t>[Faculty / Department]</a:t>
            </a:r>
            <a:endParaRPr lang="en-US" sz="1600" dirty="0"/>
          </a:p>
          <a:p>
            <a:pPr indent="0" marL="0">
              <a:spcAft>
                <a:spcPts val="400"/>
              </a:spcAft>
              <a:buNone/>
            </a:pPr>
            <a:r>
              <a:rPr lang="en-US" sz="1600" dirty="0">
                <a:solidFill>
                  <a:srgbClr val="A9D3D8"/>
                </a:solidFill>
              </a:rPr>
              <a:t>Supervisor: </a:t>
            </a:r>
            <a:pPr indent="0" marL="0">
              <a:spcAft>
                <a:spcPts val="400"/>
              </a:spcAft>
              <a:buNone/>
            </a:pPr>
            <a:r>
              <a:rPr lang="en-US" sz="1600" dirty="0">
                <a:solidFill>
                  <a:srgbClr val="F2A07B"/>
                </a:solidFill>
              </a:rPr>
              <a:t>[Supervisor name]</a:t>
            </a:r>
            <a:endParaRPr lang="en-US" sz="1600" dirty="0"/>
          </a:p>
          <a:p>
            <a:pPr indent="0" marL="0">
              <a:spcAft>
                <a:spcPts val="400"/>
              </a:spcAft>
              <a:buNone/>
            </a:pPr>
            <a:r>
              <a:rPr lang="en-US" sz="1600" dirty="0">
                <a:solidFill>
                  <a:srgbClr val="F2A07B"/>
                </a:solidFill>
              </a:rPr>
              <a:t>[Date]</a:t>
            </a:r>
            <a:endParaRPr lang="en-US" sz="1600" dirty="0"/>
          </a:p>
        </p:txBody>
      </p:sp>
      <p:sp>
        <p:nvSpPr>
          <p:cNvPr id="6" name="drop circle"/>
          <p:cNvSpPr/>
          <p:nvPr/>
        </p:nvSpPr>
        <p:spPr>
          <a:xfrm>
            <a:off x="6720840" y="1234440"/>
            <a:ext cx="1965960" cy="1965960"/>
          </a:xfrm>
          <a:prstGeom prst="ellipse">
            <a:avLst/>
          </a:prstGeom>
          <a:solidFill>
            <a:srgbClr val="FFFFFF">
              <a:alpha val="12000"/>
            </a:srgbClr>
          </a:solidFill>
          <a:ln w="19050">
            <a:solidFill>
              <a:srgbClr val="A9D3D8"/>
            </a:solidFill>
            <a:prstDash val="solid"/>
          </a:ln>
        </p:spPr>
      </p:sp>
      <p:pic>
        <p:nvPicPr>
          <p:cNvPr id="7" name="drop icon" descr="preencoded.png">    </p:cNvPr>
          <p:cNvPicPr>
            <a:picLocks noChangeAspect="1"/>
          </p:cNvPicPr>
          <p:nvPr/>
        </p:nvPicPr>
        <p:blipFill>
          <a:blip r:embed="rId1"/>
          <a:stretch>
            <a:fillRect/>
          </a:stretch>
        </p:blipFill>
        <p:spPr>
          <a:xfrm>
            <a:off x="7269480" y="1783080"/>
            <a:ext cx="868680" cy="868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Our team</a:t>
            </a:r>
            <a:endParaRPr lang="en-US" sz="3600" dirty="0"/>
          </a:p>
        </p:txBody>
      </p:sp>
      <p:sp>
        <p:nvSpPr>
          <p:cNvPr id="3" name="member A card"/>
          <p:cNvSpPr/>
          <p:nvPr/>
        </p:nvSpPr>
        <p:spPr>
          <a:xfrm>
            <a:off x="457200" y="1188720"/>
            <a:ext cx="1920240" cy="3291840"/>
          </a:xfrm>
          <a:prstGeom prst="roundRect">
            <a:avLst>
              <a:gd name="adj" fmla="val 3810"/>
            </a:avLst>
          </a:prstGeom>
          <a:solidFill>
            <a:schemeClr val="bg2"/>
          </a:solidFill>
          <a:ln w="12700">
            <a:solidFill>
              <a:schemeClr val="bg2"/>
            </a:solidFill>
            <a:prstDash val="solid"/>
          </a:ln>
        </p:spPr>
      </p:sp>
      <p:sp>
        <p:nvSpPr>
          <p:cNvPr id="4" name="member A badge"/>
          <p:cNvSpPr/>
          <p:nvPr/>
        </p:nvSpPr>
        <p:spPr>
          <a:xfrm>
            <a:off x="1097280" y="1417320"/>
            <a:ext cx="640080" cy="640080"/>
          </a:xfrm>
          <a:prstGeom prst="ellipse">
            <a:avLst/>
          </a:prstGeom>
          <a:solidFill>
            <a:schemeClr val="tx2"/>
          </a:solidFill>
          <a:ln w="12700">
            <a:solidFill>
              <a:schemeClr val="tx2"/>
            </a:solidFill>
            <a:prstDash val="solid"/>
          </a:ln>
        </p:spPr>
      </p:sp>
      <p:sp>
        <p:nvSpPr>
          <p:cNvPr id="5" name="member A letter"/>
          <p:cNvSpPr txBox="1"/>
          <p:nvPr/>
        </p:nvSpPr>
        <p:spPr>
          <a:xfrm>
            <a:off x="1097280" y="14173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A</a:t>
            </a:r>
            <a:endParaRPr lang="en-US" sz="2400" dirty="0"/>
          </a:p>
        </p:txBody>
      </p:sp>
      <p:sp>
        <p:nvSpPr>
          <p:cNvPr id="6" name="member A name"/>
          <p:cNvSpPr txBox="1"/>
          <p:nvPr/>
        </p:nvSpPr>
        <p:spPr>
          <a:xfrm>
            <a:off x="548640" y="2194560"/>
            <a:ext cx="1737360" cy="685800"/>
          </a:xfrm>
          <a:prstGeom prst="rect">
            <a:avLst/>
          </a:prstGeom>
          <a:noFill/>
          <a:ln/>
        </p:spPr>
        <p:txBody>
          <a:bodyPr wrap="square" lIns="0" tIns="0" rIns="0" bIns="0" rtlCol="0" anchor="t"/>
          <a:lstStyle/>
          <a:p>
            <a:pPr algn="ctr" indent="0" marL="0">
              <a:buNone/>
            </a:pPr>
            <a:r>
              <a:rPr lang="en-US" sz="1400" b="1" dirty="0">
                <a:solidFill>
                  <a:schemeClr val="accent2"/>
                </a:solidFill>
              </a:rPr>
              <a:t>[Member A name]</a:t>
            </a:r>
            <a:endParaRPr lang="en-US" sz="1400" dirty="0"/>
          </a:p>
          <a:p>
            <a:pPr algn="ctr" indent="0" marL="0">
              <a:buNone/>
            </a:pPr>
            <a:r>
              <a:rPr lang="en-US" sz="1200" dirty="0">
                <a:solidFill>
                  <a:schemeClr val="accent2"/>
                </a:solidFill>
              </a:rPr>
              <a:t>[Index number]</a:t>
            </a:r>
            <a:endParaRPr lang="en-US" sz="1400" dirty="0"/>
          </a:p>
        </p:txBody>
      </p:sp>
      <p:sp>
        <p:nvSpPr>
          <p:cNvPr id="7" name="member A part"/>
          <p:cNvSpPr txBox="1"/>
          <p:nvPr/>
        </p:nvSpPr>
        <p:spPr>
          <a:xfrm>
            <a:off x="594360" y="2926080"/>
            <a:ext cx="1645920" cy="141732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Data and first agents</a:t>
            </a:r>
            <a:endParaRPr lang="en-US" sz="1400" dirty="0"/>
          </a:p>
          <a:p>
            <a:pPr algn="ctr" indent="0" marL="0">
              <a:spcAft>
                <a:spcPts val="400"/>
              </a:spcAft>
              <a:buNone/>
            </a:pPr>
            <a:r>
              <a:rPr lang="en-US" sz="1200" dirty="0">
                <a:solidFill>
                  <a:schemeClr val="tx1"/>
                </a:solidFill>
              </a:rPr>
              <a:t>Data layer, ClockAgent, WellMonitorAgent</a:t>
            </a:r>
            <a:endParaRPr lang="en-US" sz="1400" dirty="0"/>
          </a:p>
        </p:txBody>
      </p:sp>
      <p:sp>
        <p:nvSpPr>
          <p:cNvPr id="8" name="member B card"/>
          <p:cNvSpPr/>
          <p:nvPr/>
        </p:nvSpPr>
        <p:spPr>
          <a:xfrm>
            <a:off x="2560320" y="1188720"/>
            <a:ext cx="1920240" cy="3291840"/>
          </a:xfrm>
          <a:prstGeom prst="roundRect">
            <a:avLst>
              <a:gd name="adj" fmla="val 3810"/>
            </a:avLst>
          </a:prstGeom>
          <a:solidFill>
            <a:schemeClr val="bg2"/>
          </a:solidFill>
          <a:ln w="12700">
            <a:solidFill>
              <a:schemeClr val="bg2"/>
            </a:solidFill>
            <a:prstDash val="solid"/>
          </a:ln>
        </p:spPr>
      </p:sp>
      <p:sp>
        <p:nvSpPr>
          <p:cNvPr id="9" name="member B badge"/>
          <p:cNvSpPr/>
          <p:nvPr/>
        </p:nvSpPr>
        <p:spPr>
          <a:xfrm>
            <a:off x="3200400" y="1417320"/>
            <a:ext cx="640080" cy="640080"/>
          </a:xfrm>
          <a:prstGeom prst="ellipse">
            <a:avLst/>
          </a:prstGeom>
          <a:solidFill>
            <a:schemeClr val="tx2"/>
          </a:solidFill>
          <a:ln w="12700">
            <a:solidFill>
              <a:schemeClr val="tx2"/>
            </a:solidFill>
            <a:prstDash val="solid"/>
          </a:ln>
        </p:spPr>
      </p:sp>
      <p:sp>
        <p:nvSpPr>
          <p:cNvPr id="10" name="member B letter"/>
          <p:cNvSpPr txBox="1"/>
          <p:nvPr/>
        </p:nvSpPr>
        <p:spPr>
          <a:xfrm>
            <a:off x="3200400" y="14173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B</a:t>
            </a:r>
            <a:endParaRPr lang="en-US" sz="2400" dirty="0"/>
          </a:p>
        </p:txBody>
      </p:sp>
      <p:sp>
        <p:nvSpPr>
          <p:cNvPr id="11" name="member B name"/>
          <p:cNvSpPr txBox="1"/>
          <p:nvPr/>
        </p:nvSpPr>
        <p:spPr>
          <a:xfrm>
            <a:off x="2651760" y="2194560"/>
            <a:ext cx="1737360" cy="685800"/>
          </a:xfrm>
          <a:prstGeom prst="rect">
            <a:avLst/>
          </a:prstGeom>
          <a:noFill/>
          <a:ln/>
        </p:spPr>
        <p:txBody>
          <a:bodyPr wrap="square" lIns="0" tIns="0" rIns="0" bIns="0" rtlCol="0" anchor="t"/>
          <a:lstStyle/>
          <a:p>
            <a:pPr algn="ctr" indent="0" marL="0">
              <a:buNone/>
            </a:pPr>
            <a:r>
              <a:rPr lang="en-US" sz="1400" b="1" dirty="0">
                <a:solidFill>
                  <a:schemeClr val="accent2"/>
                </a:solidFill>
              </a:rPr>
              <a:t>[Member B name]</a:t>
            </a:r>
            <a:endParaRPr lang="en-US" sz="1400" dirty="0"/>
          </a:p>
          <a:p>
            <a:pPr algn="ctr" indent="0" marL="0">
              <a:buNone/>
            </a:pPr>
            <a:r>
              <a:rPr lang="en-US" sz="1200" dirty="0">
                <a:solidFill>
                  <a:schemeClr val="accent2"/>
                </a:solidFill>
              </a:rPr>
              <a:t>[Index number]</a:t>
            </a:r>
            <a:endParaRPr lang="en-US" sz="1400" dirty="0"/>
          </a:p>
        </p:txBody>
      </p:sp>
      <p:sp>
        <p:nvSpPr>
          <p:cNvPr id="12" name="member B part"/>
          <p:cNvSpPr txBox="1"/>
          <p:nvPr/>
        </p:nvSpPr>
        <p:spPr>
          <a:xfrm>
            <a:off x="2697480" y="2926080"/>
            <a:ext cx="1645920" cy="141732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Risk scoring</a:t>
            </a:r>
            <a:endParaRPr lang="en-US" sz="1400" dirty="0"/>
          </a:p>
          <a:p>
            <a:pPr algn="ctr" indent="0" marL="0">
              <a:spcAft>
                <a:spcPts val="400"/>
              </a:spcAft>
              <a:buNone/>
            </a:pPr>
            <a:r>
              <a:rPr lang="en-US" sz="1200" dirty="0">
                <a:solidFill>
                  <a:schemeClr val="tx1"/>
                </a:solidFill>
              </a:rPr>
              <a:t>WQI model, RiskScoringAgent, HotspotAgent</a:t>
            </a:r>
            <a:endParaRPr lang="en-US" sz="1400" dirty="0"/>
          </a:p>
        </p:txBody>
      </p:sp>
      <p:sp>
        <p:nvSpPr>
          <p:cNvPr id="13" name="member C card"/>
          <p:cNvSpPr/>
          <p:nvPr/>
        </p:nvSpPr>
        <p:spPr>
          <a:xfrm>
            <a:off x="4663440" y="1188720"/>
            <a:ext cx="1920240" cy="3291840"/>
          </a:xfrm>
          <a:prstGeom prst="roundRect">
            <a:avLst>
              <a:gd name="adj" fmla="val 3810"/>
            </a:avLst>
          </a:prstGeom>
          <a:solidFill>
            <a:schemeClr val="bg2"/>
          </a:solidFill>
          <a:ln w="12700">
            <a:solidFill>
              <a:schemeClr val="bg2"/>
            </a:solidFill>
            <a:prstDash val="solid"/>
          </a:ln>
        </p:spPr>
      </p:sp>
      <p:sp>
        <p:nvSpPr>
          <p:cNvPr id="14" name="member C badge"/>
          <p:cNvSpPr/>
          <p:nvPr/>
        </p:nvSpPr>
        <p:spPr>
          <a:xfrm>
            <a:off x="5303520" y="1417320"/>
            <a:ext cx="640080" cy="640080"/>
          </a:xfrm>
          <a:prstGeom prst="ellipse">
            <a:avLst/>
          </a:prstGeom>
          <a:solidFill>
            <a:schemeClr val="tx2"/>
          </a:solidFill>
          <a:ln w="12700">
            <a:solidFill>
              <a:schemeClr val="tx2"/>
            </a:solidFill>
            <a:prstDash val="solid"/>
          </a:ln>
        </p:spPr>
      </p:sp>
      <p:sp>
        <p:nvSpPr>
          <p:cNvPr id="15" name="member C letter"/>
          <p:cNvSpPr txBox="1"/>
          <p:nvPr/>
        </p:nvSpPr>
        <p:spPr>
          <a:xfrm>
            <a:off x="5303520" y="14173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C</a:t>
            </a:r>
            <a:endParaRPr lang="en-US" sz="2400" dirty="0"/>
          </a:p>
        </p:txBody>
      </p:sp>
      <p:sp>
        <p:nvSpPr>
          <p:cNvPr id="16" name="member C name"/>
          <p:cNvSpPr txBox="1"/>
          <p:nvPr/>
        </p:nvSpPr>
        <p:spPr>
          <a:xfrm>
            <a:off x="4754880" y="2194560"/>
            <a:ext cx="1737360" cy="685800"/>
          </a:xfrm>
          <a:prstGeom prst="rect">
            <a:avLst/>
          </a:prstGeom>
          <a:noFill/>
          <a:ln/>
        </p:spPr>
        <p:txBody>
          <a:bodyPr wrap="square" lIns="0" tIns="0" rIns="0" bIns="0" rtlCol="0" anchor="t"/>
          <a:lstStyle/>
          <a:p>
            <a:pPr algn="ctr" indent="0" marL="0">
              <a:buNone/>
            </a:pPr>
            <a:r>
              <a:rPr lang="en-US" sz="1400" b="1" dirty="0">
                <a:solidFill>
                  <a:schemeClr val="accent2"/>
                </a:solidFill>
              </a:rPr>
              <a:t>[Member C name]</a:t>
            </a:r>
            <a:endParaRPr lang="en-US" sz="1400" dirty="0"/>
          </a:p>
          <a:p>
            <a:pPr algn="ctr" indent="0" marL="0">
              <a:buNone/>
            </a:pPr>
            <a:r>
              <a:rPr lang="en-US" sz="1200" dirty="0">
                <a:solidFill>
                  <a:schemeClr val="accent2"/>
                </a:solidFill>
              </a:rPr>
              <a:t>[Index number]</a:t>
            </a:r>
            <a:endParaRPr lang="en-US" sz="1400" dirty="0"/>
          </a:p>
        </p:txBody>
      </p:sp>
      <p:sp>
        <p:nvSpPr>
          <p:cNvPr id="17" name="member C part"/>
          <p:cNvSpPr txBox="1"/>
          <p:nvPr/>
        </p:nvSpPr>
        <p:spPr>
          <a:xfrm>
            <a:off x="4800600" y="2926080"/>
            <a:ext cx="1645920" cy="141732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Negotiation</a:t>
            </a:r>
            <a:endParaRPr lang="en-US" sz="1400" dirty="0"/>
          </a:p>
          <a:p>
            <a:pPr algn="ctr" indent="0" marL="0">
              <a:spcAft>
                <a:spcPts val="400"/>
              </a:spcAft>
              <a:buNone/>
            </a:pPr>
            <a:r>
              <a:rPr lang="en-US" sz="1200" dirty="0">
                <a:solidFill>
                  <a:schemeClr val="tx1"/>
                </a:solidFill>
              </a:rPr>
              <a:t>Contract Net, VillageAgent, ResourceCoordinator</a:t>
            </a:r>
            <a:endParaRPr lang="en-US" sz="1400" dirty="0"/>
          </a:p>
        </p:txBody>
      </p:sp>
      <p:sp>
        <p:nvSpPr>
          <p:cNvPr id="18" name="member D card"/>
          <p:cNvSpPr/>
          <p:nvPr/>
        </p:nvSpPr>
        <p:spPr>
          <a:xfrm>
            <a:off x="6766560" y="1188720"/>
            <a:ext cx="1920240" cy="3291840"/>
          </a:xfrm>
          <a:prstGeom prst="roundRect">
            <a:avLst>
              <a:gd name="adj" fmla="val 3810"/>
            </a:avLst>
          </a:prstGeom>
          <a:solidFill>
            <a:schemeClr val="bg2"/>
          </a:solidFill>
          <a:ln w="12700">
            <a:solidFill>
              <a:schemeClr val="bg2"/>
            </a:solidFill>
            <a:prstDash val="solid"/>
          </a:ln>
        </p:spPr>
      </p:sp>
      <p:sp>
        <p:nvSpPr>
          <p:cNvPr id="19" name="member D badge"/>
          <p:cNvSpPr/>
          <p:nvPr/>
        </p:nvSpPr>
        <p:spPr>
          <a:xfrm>
            <a:off x="7406640" y="1417320"/>
            <a:ext cx="640080" cy="640080"/>
          </a:xfrm>
          <a:prstGeom prst="ellipse">
            <a:avLst/>
          </a:prstGeom>
          <a:solidFill>
            <a:schemeClr val="tx2"/>
          </a:solidFill>
          <a:ln w="12700">
            <a:solidFill>
              <a:schemeClr val="tx2"/>
            </a:solidFill>
            <a:prstDash val="solid"/>
          </a:ln>
        </p:spPr>
      </p:sp>
      <p:sp>
        <p:nvSpPr>
          <p:cNvPr id="20" name="member D letter"/>
          <p:cNvSpPr txBox="1"/>
          <p:nvPr/>
        </p:nvSpPr>
        <p:spPr>
          <a:xfrm>
            <a:off x="7406640" y="14173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D</a:t>
            </a:r>
            <a:endParaRPr lang="en-US" sz="2400" dirty="0"/>
          </a:p>
        </p:txBody>
      </p:sp>
      <p:sp>
        <p:nvSpPr>
          <p:cNvPr id="21" name="member D name"/>
          <p:cNvSpPr txBox="1"/>
          <p:nvPr/>
        </p:nvSpPr>
        <p:spPr>
          <a:xfrm>
            <a:off x="6858000" y="2194560"/>
            <a:ext cx="1737360" cy="685800"/>
          </a:xfrm>
          <a:prstGeom prst="rect">
            <a:avLst/>
          </a:prstGeom>
          <a:noFill/>
          <a:ln/>
        </p:spPr>
        <p:txBody>
          <a:bodyPr wrap="square" lIns="0" tIns="0" rIns="0" bIns="0" rtlCol="0" anchor="t"/>
          <a:lstStyle/>
          <a:p>
            <a:pPr algn="ctr" indent="0" marL="0">
              <a:buNone/>
            </a:pPr>
            <a:r>
              <a:rPr lang="en-US" sz="1400" b="1" dirty="0">
                <a:solidFill>
                  <a:schemeClr val="accent2"/>
                </a:solidFill>
              </a:rPr>
              <a:t>[Member D name]</a:t>
            </a:r>
            <a:endParaRPr lang="en-US" sz="1400" dirty="0"/>
          </a:p>
          <a:p>
            <a:pPr algn="ctr" indent="0" marL="0">
              <a:buNone/>
            </a:pPr>
            <a:r>
              <a:rPr lang="en-US" sz="1200" dirty="0">
                <a:solidFill>
                  <a:schemeClr val="accent2"/>
                </a:solidFill>
              </a:rPr>
              <a:t>[Index number]</a:t>
            </a:r>
            <a:endParaRPr lang="en-US" sz="1400" dirty="0"/>
          </a:p>
        </p:txBody>
      </p:sp>
      <p:sp>
        <p:nvSpPr>
          <p:cNvPr id="22" name="member D part"/>
          <p:cNvSpPr txBox="1"/>
          <p:nvPr/>
        </p:nvSpPr>
        <p:spPr>
          <a:xfrm>
            <a:off x="6903720" y="2926080"/>
            <a:ext cx="1645920" cy="141732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Alerts and evaluation</a:t>
            </a:r>
            <a:endParaRPr lang="en-US" sz="1400" dirty="0"/>
          </a:p>
          <a:p>
            <a:pPr algn="ctr" indent="0" marL="0">
              <a:spcAft>
                <a:spcPts val="400"/>
              </a:spcAft>
              <a:buNone/>
            </a:pPr>
            <a:r>
              <a:rPr lang="en-US" sz="1200" dirty="0">
                <a:solidFill>
                  <a:schemeClr val="tx1"/>
                </a:solidFill>
              </a:rPr>
              <a:t>AlertAgent, evaluation metrics, dashboard</a:t>
            </a:r>
            <a:endParaRPr lang="en-US" sz="14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Agenda</a:t>
            </a:r>
            <a:endParaRPr lang="en-US" sz="3600" dirty="0"/>
          </a:p>
        </p:txBody>
      </p:sp>
      <p:sp>
        <p:nvSpPr>
          <p:cNvPr id="3" name="agenda 1 circle"/>
          <p:cNvSpPr/>
          <p:nvPr/>
        </p:nvSpPr>
        <p:spPr>
          <a:xfrm>
            <a:off x="548640" y="1280160"/>
            <a:ext cx="502920" cy="502920"/>
          </a:xfrm>
          <a:prstGeom prst="ellipse">
            <a:avLst/>
          </a:prstGeom>
          <a:solidFill>
            <a:schemeClr val="tx2"/>
          </a:solidFill>
          <a:ln w="12700">
            <a:solidFill>
              <a:schemeClr val="tx2"/>
            </a:solidFill>
            <a:prstDash val="solid"/>
          </a:ln>
        </p:spPr>
      </p:sp>
      <p:sp>
        <p:nvSpPr>
          <p:cNvPr id="4" name="agenda 1 number"/>
          <p:cNvSpPr txBox="1"/>
          <p:nvPr/>
        </p:nvSpPr>
        <p:spPr>
          <a:xfrm>
            <a:off x="548640" y="12801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agenda 1 text"/>
          <p:cNvSpPr txBox="1"/>
          <p:nvPr/>
        </p:nvSpPr>
        <p:spPr>
          <a:xfrm>
            <a:off x="1234440" y="1280160"/>
            <a:ext cx="3291840" cy="502920"/>
          </a:xfrm>
          <a:prstGeom prst="rect">
            <a:avLst/>
          </a:prstGeom>
          <a:noFill/>
          <a:ln/>
        </p:spPr>
        <p:txBody>
          <a:bodyPr wrap="square" lIns="0" tIns="0" rIns="0" bIns="0" rtlCol="0" anchor="ctr"/>
          <a:lstStyle/>
          <a:p>
            <a:pPr indent="0" marL="0">
              <a:buNone/>
            </a:pPr>
            <a:r>
              <a:rPr lang="en-US" sz="1800" dirty="0">
                <a:solidFill>
                  <a:schemeClr val="tx1"/>
                </a:solidFill>
              </a:rPr>
              <a:t>Problem and objectives</a:t>
            </a:r>
            <a:endParaRPr lang="en-US" sz="1800" dirty="0"/>
          </a:p>
        </p:txBody>
      </p:sp>
      <p:sp>
        <p:nvSpPr>
          <p:cNvPr id="6" name="agenda 2 circle"/>
          <p:cNvSpPr/>
          <p:nvPr/>
        </p:nvSpPr>
        <p:spPr>
          <a:xfrm>
            <a:off x="548640" y="2103120"/>
            <a:ext cx="502920" cy="502920"/>
          </a:xfrm>
          <a:prstGeom prst="ellipse">
            <a:avLst/>
          </a:prstGeom>
          <a:solidFill>
            <a:schemeClr val="tx2"/>
          </a:solidFill>
          <a:ln w="12700">
            <a:solidFill>
              <a:schemeClr val="tx2"/>
            </a:solidFill>
            <a:prstDash val="solid"/>
          </a:ln>
        </p:spPr>
      </p:sp>
      <p:sp>
        <p:nvSpPr>
          <p:cNvPr id="7" name="agenda 2 number"/>
          <p:cNvSpPr txBox="1"/>
          <p:nvPr/>
        </p:nvSpPr>
        <p:spPr>
          <a:xfrm>
            <a:off x="548640" y="21031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agenda 2 text"/>
          <p:cNvSpPr txBox="1"/>
          <p:nvPr/>
        </p:nvSpPr>
        <p:spPr>
          <a:xfrm>
            <a:off x="1234440" y="2103120"/>
            <a:ext cx="3291840" cy="502920"/>
          </a:xfrm>
          <a:prstGeom prst="rect">
            <a:avLst/>
          </a:prstGeom>
          <a:noFill/>
          <a:ln/>
        </p:spPr>
        <p:txBody>
          <a:bodyPr wrap="square" lIns="0" tIns="0" rIns="0" bIns="0" rtlCol="0" anchor="ctr"/>
          <a:lstStyle/>
          <a:p>
            <a:pPr indent="0" marL="0">
              <a:buNone/>
            </a:pPr>
            <a:r>
              <a:rPr lang="en-US" sz="1800" dirty="0">
                <a:solidFill>
                  <a:schemeClr val="tx1"/>
                </a:solidFill>
              </a:rPr>
              <a:t>Why a multi-agent system</a:t>
            </a:r>
            <a:endParaRPr lang="en-US" sz="1800" dirty="0"/>
          </a:p>
        </p:txBody>
      </p:sp>
      <p:sp>
        <p:nvSpPr>
          <p:cNvPr id="9" name="agenda 3 circle"/>
          <p:cNvSpPr/>
          <p:nvPr/>
        </p:nvSpPr>
        <p:spPr>
          <a:xfrm>
            <a:off x="548640" y="2926080"/>
            <a:ext cx="502920" cy="502920"/>
          </a:xfrm>
          <a:prstGeom prst="ellipse">
            <a:avLst/>
          </a:prstGeom>
          <a:solidFill>
            <a:schemeClr val="tx2"/>
          </a:solidFill>
          <a:ln w="12700">
            <a:solidFill>
              <a:schemeClr val="tx2"/>
            </a:solidFill>
            <a:prstDash val="solid"/>
          </a:ln>
        </p:spPr>
      </p:sp>
      <p:sp>
        <p:nvSpPr>
          <p:cNvPr id="10" name="agenda 3 number"/>
          <p:cNvSpPr txBox="1"/>
          <p:nvPr/>
        </p:nvSpPr>
        <p:spPr>
          <a:xfrm>
            <a:off x="548640" y="2926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agenda 3 text"/>
          <p:cNvSpPr txBox="1"/>
          <p:nvPr/>
        </p:nvSpPr>
        <p:spPr>
          <a:xfrm>
            <a:off x="1234440" y="2926080"/>
            <a:ext cx="3291840" cy="502920"/>
          </a:xfrm>
          <a:prstGeom prst="rect">
            <a:avLst/>
          </a:prstGeom>
          <a:noFill/>
          <a:ln/>
        </p:spPr>
        <p:txBody>
          <a:bodyPr wrap="square" lIns="0" tIns="0" rIns="0" bIns="0" rtlCol="0" anchor="ctr"/>
          <a:lstStyle/>
          <a:p>
            <a:pPr indent="0" marL="0">
              <a:buNone/>
            </a:pPr>
            <a:r>
              <a:rPr lang="en-US" sz="1800" dirty="0">
                <a:solidFill>
                  <a:schemeClr val="tx1"/>
                </a:solidFill>
              </a:rPr>
              <a:t>Architecture and one simulated month</a:t>
            </a:r>
            <a:endParaRPr lang="en-US" sz="1800" dirty="0"/>
          </a:p>
        </p:txBody>
      </p:sp>
      <p:sp>
        <p:nvSpPr>
          <p:cNvPr id="12" name="agenda 4 circle"/>
          <p:cNvSpPr/>
          <p:nvPr/>
        </p:nvSpPr>
        <p:spPr>
          <a:xfrm>
            <a:off x="548640" y="3749040"/>
            <a:ext cx="502920" cy="502920"/>
          </a:xfrm>
          <a:prstGeom prst="ellipse">
            <a:avLst/>
          </a:prstGeom>
          <a:solidFill>
            <a:schemeClr val="tx2"/>
          </a:solidFill>
          <a:ln w="12700">
            <a:solidFill>
              <a:schemeClr val="tx2"/>
            </a:solidFill>
            <a:prstDash val="solid"/>
          </a:ln>
        </p:spPr>
      </p:sp>
      <p:sp>
        <p:nvSpPr>
          <p:cNvPr id="13" name="agenda 4 number"/>
          <p:cNvSpPr txBox="1"/>
          <p:nvPr/>
        </p:nvSpPr>
        <p:spPr>
          <a:xfrm>
            <a:off x="548640" y="3749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agenda 4 text"/>
          <p:cNvSpPr txBox="1"/>
          <p:nvPr/>
        </p:nvSpPr>
        <p:spPr>
          <a:xfrm>
            <a:off x="1234440" y="3749040"/>
            <a:ext cx="3291840" cy="502920"/>
          </a:xfrm>
          <a:prstGeom prst="rect">
            <a:avLst/>
          </a:prstGeom>
          <a:noFill/>
          <a:ln/>
        </p:spPr>
        <p:txBody>
          <a:bodyPr wrap="square" lIns="0" tIns="0" rIns="0" bIns="0" rtlCol="0" anchor="ctr"/>
          <a:lstStyle/>
          <a:p>
            <a:pPr indent="0" marL="0">
              <a:buNone/>
            </a:pPr>
            <a:r>
              <a:rPr lang="en-US" sz="1800" dirty="0">
                <a:solidFill>
                  <a:schemeClr val="tx1"/>
                </a:solidFill>
              </a:rPr>
              <a:t>Data: real and synthetic</a:t>
            </a:r>
            <a:endParaRPr lang="en-US" sz="1800" dirty="0"/>
          </a:p>
        </p:txBody>
      </p:sp>
      <p:sp>
        <p:nvSpPr>
          <p:cNvPr id="15" name="agenda 5 circle"/>
          <p:cNvSpPr/>
          <p:nvPr/>
        </p:nvSpPr>
        <p:spPr>
          <a:xfrm>
            <a:off x="4754880" y="1280160"/>
            <a:ext cx="502920" cy="502920"/>
          </a:xfrm>
          <a:prstGeom prst="ellipse">
            <a:avLst/>
          </a:prstGeom>
          <a:solidFill>
            <a:schemeClr val="accent2"/>
          </a:solidFill>
          <a:ln w="12700">
            <a:solidFill>
              <a:schemeClr val="accent2"/>
            </a:solidFill>
            <a:prstDash val="solid"/>
          </a:ln>
        </p:spPr>
      </p:sp>
      <p:sp>
        <p:nvSpPr>
          <p:cNvPr id="16" name="agenda 5 number"/>
          <p:cNvSpPr txBox="1"/>
          <p:nvPr/>
        </p:nvSpPr>
        <p:spPr>
          <a:xfrm>
            <a:off x="4754880" y="12801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7" name="agenda 5 text"/>
          <p:cNvSpPr txBox="1"/>
          <p:nvPr/>
        </p:nvSpPr>
        <p:spPr>
          <a:xfrm>
            <a:off x="5440680" y="1280160"/>
            <a:ext cx="3291840" cy="502920"/>
          </a:xfrm>
          <a:prstGeom prst="rect">
            <a:avLst/>
          </a:prstGeom>
          <a:noFill/>
          <a:ln/>
        </p:spPr>
        <p:txBody>
          <a:bodyPr wrap="square" lIns="0" tIns="0" rIns="0" bIns="0" rtlCol="0" anchor="ctr"/>
          <a:lstStyle/>
          <a:p>
            <a:pPr indent="0" marL="0">
              <a:buNone/>
            </a:pPr>
            <a:r>
              <a:rPr lang="en-US" sz="1800" dirty="0">
                <a:solidFill>
                  <a:schemeClr val="tx1"/>
                </a:solidFill>
              </a:rPr>
              <a:t>Our four parts (A to D)</a:t>
            </a:r>
            <a:endParaRPr lang="en-US" sz="1800" dirty="0"/>
          </a:p>
        </p:txBody>
      </p:sp>
      <p:sp>
        <p:nvSpPr>
          <p:cNvPr id="18" name="agenda 6 circle"/>
          <p:cNvSpPr/>
          <p:nvPr/>
        </p:nvSpPr>
        <p:spPr>
          <a:xfrm>
            <a:off x="4754880" y="2103120"/>
            <a:ext cx="502920" cy="502920"/>
          </a:xfrm>
          <a:prstGeom prst="ellipse">
            <a:avLst/>
          </a:prstGeom>
          <a:solidFill>
            <a:schemeClr val="accent2"/>
          </a:solidFill>
          <a:ln w="12700">
            <a:solidFill>
              <a:schemeClr val="accent2"/>
            </a:solidFill>
            <a:prstDash val="solid"/>
          </a:ln>
        </p:spPr>
      </p:sp>
      <p:sp>
        <p:nvSpPr>
          <p:cNvPr id="19" name="agenda 6 number"/>
          <p:cNvSpPr txBox="1"/>
          <p:nvPr/>
        </p:nvSpPr>
        <p:spPr>
          <a:xfrm>
            <a:off x="4754880" y="21031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0" name="agenda 6 text"/>
          <p:cNvSpPr txBox="1"/>
          <p:nvPr/>
        </p:nvSpPr>
        <p:spPr>
          <a:xfrm>
            <a:off x="5440680" y="2103120"/>
            <a:ext cx="3291840" cy="502920"/>
          </a:xfrm>
          <a:prstGeom prst="rect">
            <a:avLst/>
          </a:prstGeom>
          <a:noFill/>
          <a:ln/>
        </p:spPr>
        <p:txBody>
          <a:bodyPr wrap="square" lIns="0" tIns="0" rIns="0" bIns="0" rtlCol="0" anchor="ctr"/>
          <a:lstStyle/>
          <a:p>
            <a:pPr indent="0" marL="0">
              <a:buNone/>
            </a:pPr>
            <a:r>
              <a:rPr lang="en-US" sz="1800" dirty="0">
                <a:solidFill>
                  <a:schemeClr val="tx1"/>
                </a:solidFill>
              </a:rPr>
              <a:t>Results</a:t>
            </a:r>
            <a:endParaRPr lang="en-US" sz="1800" dirty="0"/>
          </a:p>
        </p:txBody>
      </p:sp>
      <p:sp>
        <p:nvSpPr>
          <p:cNvPr id="21" name="agenda 7 circle"/>
          <p:cNvSpPr/>
          <p:nvPr/>
        </p:nvSpPr>
        <p:spPr>
          <a:xfrm>
            <a:off x="4754880" y="2926080"/>
            <a:ext cx="502920" cy="502920"/>
          </a:xfrm>
          <a:prstGeom prst="ellipse">
            <a:avLst/>
          </a:prstGeom>
          <a:solidFill>
            <a:schemeClr val="accent2"/>
          </a:solidFill>
          <a:ln w="12700">
            <a:solidFill>
              <a:schemeClr val="accent2"/>
            </a:solidFill>
            <a:prstDash val="solid"/>
          </a:ln>
        </p:spPr>
      </p:sp>
      <p:sp>
        <p:nvSpPr>
          <p:cNvPr id="22" name="agenda 7 number"/>
          <p:cNvSpPr txBox="1"/>
          <p:nvPr/>
        </p:nvSpPr>
        <p:spPr>
          <a:xfrm>
            <a:off x="4754880" y="2926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23" name="agenda 7 text"/>
          <p:cNvSpPr txBox="1"/>
          <p:nvPr/>
        </p:nvSpPr>
        <p:spPr>
          <a:xfrm>
            <a:off x="5440680" y="2926080"/>
            <a:ext cx="3291840" cy="502920"/>
          </a:xfrm>
          <a:prstGeom prst="rect">
            <a:avLst/>
          </a:prstGeom>
          <a:noFill/>
          <a:ln/>
        </p:spPr>
        <p:txBody>
          <a:bodyPr wrap="square" lIns="0" tIns="0" rIns="0" bIns="0" rtlCol="0" anchor="ctr"/>
          <a:lstStyle/>
          <a:p>
            <a:pPr indent="0" marL="0">
              <a:buNone/>
            </a:pPr>
            <a:r>
              <a:rPr lang="en-US" sz="1800" dirty="0">
                <a:solidFill>
                  <a:schemeClr val="tx1"/>
                </a:solidFill>
              </a:rPr>
              <a:t>Limitations and ethics</a:t>
            </a:r>
            <a:endParaRPr lang="en-US" sz="1800" dirty="0"/>
          </a:p>
        </p:txBody>
      </p:sp>
      <p:sp>
        <p:nvSpPr>
          <p:cNvPr id="24" name="agenda 8 circle"/>
          <p:cNvSpPr/>
          <p:nvPr/>
        </p:nvSpPr>
        <p:spPr>
          <a:xfrm>
            <a:off x="4754880" y="3749040"/>
            <a:ext cx="502920" cy="502920"/>
          </a:xfrm>
          <a:prstGeom prst="ellipse">
            <a:avLst/>
          </a:prstGeom>
          <a:solidFill>
            <a:schemeClr val="accent2"/>
          </a:solidFill>
          <a:ln w="12700">
            <a:solidFill>
              <a:schemeClr val="accent2"/>
            </a:solidFill>
            <a:prstDash val="solid"/>
          </a:ln>
        </p:spPr>
      </p:sp>
      <p:sp>
        <p:nvSpPr>
          <p:cNvPr id="25" name="agenda 8 number"/>
          <p:cNvSpPr txBox="1"/>
          <p:nvPr/>
        </p:nvSpPr>
        <p:spPr>
          <a:xfrm>
            <a:off x="4754880" y="3749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26" name="agenda 8 text"/>
          <p:cNvSpPr txBox="1"/>
          <p:nvPr/>
        </p:nvSpPr>
        <p:spPr>
          <a:xfrm>
            <a:off x="5440680" y="3749040"/>
            <a:ext cx="3291840" cy="502920"/>
          </a:xfrm>
          <a:prstGeom prst="rect">
            <a:avLst/>
          </a:prstGeom>
          <a:noFill/>
          <a:ln/>
        </p:spPr>
        <p:txBody>
          <a:bodyPr wrap="square" lIns="0" tIns="0" rIns="0" bIns="0" rtlCol="0" anchor="ctr"/>
          <a:lstStyle/>
          <a:p>
            <a:pPr indent="0" marL="0">
              <a:buNone/>
            </a:pPr>
            <a:r>
              <a:rPr lang="en-US" sz="1800" dirty="0">
                <a:solidFill>
                  <a:schemeClr val="tx1"/>
                </a:solidFill>
              </a:rPr>
              <a:t>Conclusion and questions</a:t>
            </a:r>
            <a:endParaRPr lang="en-US" sz="18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The problem</a:t>
            </a:r>
            <a:endParaRPr lang="en-US" sz="3600" dirty="0"/>
          </a:p>
        </p:txBody>
      </p:sp>
      <p:sp>
        <p:nvSpPr>
          <p:cNvPr id="3" name="problem bullets"/>
          <p:cNvSpPr txBox="1"/>
          <p:nvPr/>
        </p:nvSpPr>
        <p:spPr>
          <a:xfrm>
            <a:off x="457200" y="1143000"/>
            <a:ext cx="4937760" cy="2514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CKDu (chronic kidney disease of unknown cause) affects farming communities in Sri Lanka's dry zone, mainly the North Central Province</a:t>
            </a:r>
            <a:endParaRPr lang="en-US" sz="1500" dirty="0"/>
          </a:p>
          <a:p>
            <a:pPr marL="342900" indent="-342900">
              <a:spcAft>
                <a:spcPts val="600"/>
              </a:spcAft>
              <a:buSzPct val="100000"/>
              <a:buChar char="•"/>
            </a:pPr>
            <a:r>
              <a:rPr lang="en-US" sz="1500" dirty="0">
                <a:solidFill>
                  <a:schemeClr val="tx1"/>
                </a:solidFill>
              </a:rPr>
              <a:t>Studies report an association with drinking-well water quality: hardness, fluoride and dissolved organic carbon</a:t>
            </a:r>
            <a:endParaRPr lang="en-US" sz="1500" dirty="0"/>
          </a:p>
          <a:p>
            <a:pPr marL="342900" indent="-342900">
              <a:spcAft>
                <a:spcPts val="600"/>
              </a:spcAft>
              <a:buSzPct val="100000"/>
              <a:buChar char="•"/>
            </a:pPr>
            <a:r>
              <a:rPr lang="en-US" sz="1500" dirty="0">
                <a:solidFill>
                  <a:schemeClr val="tx1"/>
                </a:solidFill>
              </a:rPr>
              <a:t>The cause is still debated, and well testing, case surveillance and response are not connected</a:t>
            </a:r>
            <a:endParaRPr lang="en-US" sz="1500" dirty="0"/>
          </a:p>
        </p:txBody>
      </p:sp>
      <p:sp>
        <p:nvSpPr>
          <p:cNvPr id="4" name="stat card"/>
          <p:cNvSpPr/>
          <p:nvPr/>
        </p:nvSpPr>
        <p:spPr>
          <a:xfrm>
            <a:off x="5760720" y="1143000"/>
            <a:ext cx="2926080" cy="2514600"/>
          </a:xfrm>
          <a:prstGeom prst="roundRect">
            <a:avLst>
              <a:gd name="adj" fmla="val 2909"/>
            </a:avLst>
          </a:prstGeom>
          <a:solidFill>
            <a:schemeClr val="bg2"/>
          </a:solidFill>
          <a:ln w="12700">
            <a:solidFill>
              <a:schemeClr val="bg2"/>
            </a:solidFill>
            <a:prstDash val="solid"/>
          </a:ln>
        </p:spPr>
      </p:sp>
      <p:sp>
        <p:nvSpPr>
          <p:cNvPr id="5" name="stat number"/>
          <p:cNvSpPr txBox="1"/>
          <p:nvPr/>
        </p:nvSpPr>
        <p:spPr>
          <a:xfrm>
            <a:off x="5852160" y="1325880"/>
            <a:ext cx="2743200" cy="868680"/>
          </a:xfrm>
          <a:prstGeom prst="rect">
            <a:avLst/>
          </a:prstGeom>
          <a:noFill/>
          <a:ln/>
        </p:spPr>
        <p:txBody>
          <a:bodyPr wrap="square" lIns="0" tIns="0" rIns="0" bIns="0" rtlCol="0" anchor="ctr"/>
          <a:lstStyle/>
          <a:p>
            <a:pPr algn="ctr" indent="0" marL="0">
              <a:buNone/>
            </a:pPr>
            <a:r>
              <a:rPr lang="en-US" sz="4800" b="1" dirty="0">
                <a:solidFill>
                  <a:schemeClr val="tx2"/>
                </a:solidFill>
                <a:latin typeface="Cambria" pitchFamily="34" charset="0"/>
                <a:ea typeface="Cambria" pitchFamily="34" charset="-122"/>
                <a:cs typeface="Cambria" pitchFamily="34" charset="-120"/>
              </a:rPr>
              <a:t>30,566</a:t>
            </a:r>
            <a:endParaRPr lang="en-US" sz="4800" dirty="0"/>
          </a:p>
        </p:txBody>
      </p:sp>
      <p:sp>
        <p:nvSpPr>
          <p:cNvPr id="6" name="stat label"/>
          <p:cNvSpPr txBox="1"/>
          <p:nvPr/>
        </p:nvSpPr>
        <p:spPr>
          <a:xfrm>
            <a:off x="5943600" y="2240280"/>
            <a:ext cx="2560320" cy="1280160"/>
          </a:xfrm>
          <a:prstGeom prst="rect">
            <a:avLst/>
          </a:prstGeom>
          <a:noFill/>
          <a:ln/>
        </p:spPr>
        <p:txBody>
          <a:bodyPr wrap="square" lIns="0" tIns="0" rIns="0" bIns="0" rtlCol="0" anchor="t"/>
          <a:lstStyle/>
          <a:p>
            <a:pPr algn="ctr" indent="0" marL="0">
              <a:buNone/>
            </a:pPr>
            <a:r>
              <a:rPr lang="en-US" sz="1300" dirty="0">
                <a:solidFill>
                  <a:schemeClr val="tx1"/>
                </a:solidFill>
              </a:rPr>
              <a:t>CKD / CKDu patients in North Central Province hospital registers</a:t>
            </a:r>
            <a:endParaRPr lang="en-US" sz="1300" dirty="0"/>
          </a:p>
          <a:p>
            <a:pPr algn="ctr" indent="0" marL="0">
              <a:buNone/>
            </a:pPr>
            <a:r>
              <a:rPr lang="en-US" sz="1300" b="1" dirty="0">
                <a:solidFill>
                  <a:schemeClr val="tx1"/>
                </a:solidFill>
              </a:rPr>
              <a:t>2003–2016</a:t>
            </a:r>
            <a:endParaRPr lang="en-US" sz="1300" dirty="0"/>
          </a:p>
          <a:p>
            <a:pPr algn="ctr" indent="0" marL="0">
              <a:buNone/>
            </a:pPr>
            <a:r>
              <a:rPr lang="en-US" sz="1000" i="1" dirty="0">
                <a:solidFill>
                  <a:schemeClr val="accent6"/>
                </a:solidFill>
              </a:rPr>
              <a:t>BMC Nephrology (2019)</a:t>
            </a:r>
            <a:endParaRPr lang="en-US" sz="1300" dirty="0"/>
          </a:p>
        </p:txBody>
      </p:sp>
      <p:sp>
        <p:nvSpPr>
          <p:cNvPr id="7" name="framing box"/>
          <p:cNvSpPr/>
          <p:nvPr/>
        </p:nvSpPr>
        <p:spPr>
          <a:xfrm>
            <a:off x="457200" y="3840480"/>
            <a:ext cx="8229600" cy="713232"/>
          </a:xfrm>
          <a:prstGeom prst="roundRect">
            <a:avLst>
              <a:gd name="adj" fmla="val 10256"/>
            </a:avLst>
          </a:prstGeom>
          <a:solidFill>
            <a:schemeClr val="bg2"/>
          </a:solidFill>
          <a:ln w="12700">
            <a:solidFill>
              <a:schemeClr val="bg2"/>
            </a:solidFill>
            <a:prstDash val="solid"/>
          </a:ln>
        </p:spPr>
      </p:sp>
      <p:sp>
        <p:nvSpPr>
          <p:cNvPr id="8" name="framing circle"/>
          <p:cNvSpPr/>
          <p:nvPr/>
        </p:nvSpPr>
        <p:spPr>
          <a:xfrm>
            <a:off x="594360" y="3950208"/>
            <a:ext cx="502920" cy="502920"/>
          </a:xfrm>
          <a:prstGeom prst="ellipse">
            <a:avLst/>
          </a:prstGeom>
          <a:solidFill>
            <a:schemeClr val="tx2"/>
          </a:solidFill>
          <a:ln w="12700">
            <a:solidFill>
              <a:schemeClr val="tx2"/>
            </a:solidFill>
            <a:prstDash val="solid"/>
          </a:ln>
        </p:spPr>
      </p:sp>
      <p:pic>
        <p:nvPicPr>
          <p:cNvPr id="9" name="framing icon" descr="preencoded.png">    </p:cNvPr>
          <p:cNvPicPr>
            <a:picLocks noChangeAspect="1"/>
          </p:cNvPicPr>
          <p:nvPr/>
        </p:nvPicPr>
        <p:blipFill>
          <a:blip r:embed="rId1"/>
          <a:stretch>
            <a:fillRect/>
          </a:stretch>
        </p:blipFill>
        <p:spPr>
          <a:xfrm>
            <a:off x="730148" y="4085996"/>
            <a:ext cx="231343" cy="231343"/>
          </a:xfrm>
          <a:prstGeom prst="rect">
            <a:avLst/>
          </a:prstGeom>
        </p:spPr>
      </p:pic>
      <p:sp>
        <p:nvSpPr>
          <p:cNvPr id="10" name="framing text"/>
          <p:cNvSpPr txBox="1"/>
          <p:nvPr/>
        </p:nvSpPr>
        <p:spPr>
          <a:xfrm>
            <a:off x="1280160" y="3886200"/>
            <a:ext cx="7269480" cy="621792"/>
          </a:xfrm>
          <a:prstGeom prst="rect">
            <a:avLst/>
          </a:prstGeom>
          <a:noFill/>
          <a:ln/>
        </p:spPr>
        <p:txBody>
          <a:bodyPr wrap="square" lIns="0" tIns="0" rIns="0" bIns="0" rtlCol="0" anchor="ctr"/>
          <a:lstStyle/>
          <a:p>
            <a:pPr indent="0" marL="0">
              <a:buNone/>
            </a:pPr>
            <a:r>
              <a:rPr lang="en-US" sz="1400" b="1" dirty="0">
                <a:solidFill>
                  <a:schemeClr val="tx2"/>
                </a:solidFill>
              </a:rPr>
              <a:t>Our system gives risk indicators from published water-quality thresholds. </a:t>
            </a:r>
            <a:pPr indent="0" marL="0">
              <a:buNone/>
            </a:pPr>
            <a:r>
              <a:rPr lang="en-US" sz="1400" dirty="0">
                <a:solidFill>
                  <a:schemeClr val="tx1"/>
                </a:solidFill>
              </a:rPr>
              <a:t>It never diagnoses CKDu and never claims that water causes it.</a:t>
            </a:r>
            <a:endParaRPr lang="en-US" sz="14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Objectives</a:t>
            </a:r>
            <a:endParaRPr lang="en-US" sz="3600" dirty="0"/>
          </a:p>
        </p:txBody>
      </p:sp>
      <p:sp>
        <p:nvSpPr>
          <p:cNvPr id="3" name="objective 1 circle"/>
          <p:cNvSpPr/>
          <p:nvPr/>
        </p:nvSpPr>
        <p:spPr>
          <a:xfrm>
            <a:off x="457200" y="1417320"/>
            <a:ext cx="731520" cy="731520"/>
          </a:xfrm>
          <a:prstGeom prst="ellipse">
            <a:avLst/>
          </a:prstGeom>
          <a:solidFill>
            <a:schemeClr val="tx2"/>
          </a:solidFill>
          <a:ln w="12700">
            <a:solidFill>
              <a:schemeClr val="tx2"/>
            </a:solidFill>
            <a:prstDash val="solid"/>
          </a:ln>
        </p:spPr>
      </p:sp>
      <p:pic>
        <p:nvPicPr>
          <p:cNvPr id="4" name="objective 1 icon" descr="preencoded.png">    </p:cNvPr>
          <p:cNvPicPr>
            <a:picLocks noChangeAspect="1"/>
          </p:cNvPicPr>
          <p:nvPr/>
        </p:nvPicPr>
        <p:blipFill>
          <a:blip r:embed="rId1"/>
          <a:stretch>
            <a:fillRect/>
          </a:stretch>
        </p:blipFill>
        <p:spPr>
          <a:xfrm>
            <a:off x="654710" y="1614830"/>
            <a:ext cx="336499" cy="336499"/>
          </a:xfrm>
          <a:prstGeom prst="rect">
            <a:avLst/>
          </a:prstGeom>
        </p:spPr>
      </p:pic>
      <p:sp>
        <p:nvSpPr>
          <p:cNvPr id="5" name="objective 1 text"/>
          <p:cNvSpPr txBox="1"/>
          <p:nvPr/>
        </p:nvSpPr>
        <p:spPr>
          <a:xfrm>
            <a:off x="1371600" y="1371600"/>
            <a:ext cx="3063240" cy="13716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1. Score</a:t>
            </a:r>
            <a:endParaRPr lang="en-US" sz="1800" dirty="0"/>
          </a:p>
          <a:p>
            <a:pPr indent="0" marL="0">
              <a:spcAft>
                <a:spcPts val="400"/>
              </a:spcAft>
              <a:buNone/>
            </a:pPr>
            <a:r>
              <a:rPr lang="en-US" sz="1400" dirty="0">
                <a:solidFill>
                  <a:schemeClr val="tx1"/>
                </a:solidFill>
              </a:rPr>
              <a:t>Score every well's water each month with a published Water Quality Index</a:t>
            </a:r>
            <a:endParaRPr lang="en-US" sz="1800" dirty="0"/>
          </a:p>
        </p:txBody>
      </p:sp>
      <p:sp>
        <p:nvSpPr>
          <p:cNvPr id="6" name="objective 2 circle"/>
          <p:cNvSpPr/>
          <p:nvPr/>
        </p:nvSpPr>
        <p:spPr>
          <a:xfrm>
            <a:off x="4663440" y="1417320"/>
            <a:ext cx="731520" cy="731520"/>
          </a:xfrm>
          <a:prstGeom prst="ellipse">
            <a:avLst/>
          </a:prstGeom>
          <a:solidFill>
            <a:schemeClr val="tx2"/>
          </a:solidFill>
          <a:ln w="12700">
            <a:solidFill>
              <a:schemeClr val="tx2"/>
            </a:solidFill>
            <a:prstDash val="solid"/>
          </a:ln>
        </p:spPr>
      </p:sp>
      <p:pic>
        <p:nvPicPr>
          <p:cNvPr id="7" name="objective 2 icon" descr="preencoded.png">    </p:cNvPr>
          <p:cNvPicPr>
            <a:picLocks noChangeAspect="1"/>
          </p:cNvPicPr>
          <p:nvPr/>
        </p:nvPicPr>
        <p:blipFill>
          <a:blip r:embed="rId2"/>
          <a:stretch>
            <a:fillRect/>
          </a:stretch>
        </p:blipFill>
        <p:spPr>
          <a:xfrm>
            <a:off x="4860950" y="1614830"/>
            <a:ext cx="336499" cy="336499"/>
          </a:xfrm>
          <a:prstGeom prst="rect">
            <a:avLst/>
          </a:prstGeom>
        </p:spPr>
      </p:pic>
      <p:sp>
        <p:nvSpPr>
          <p:cNvPr id="8" name="objective 2 text"/>
          <p:cNvSpPr txBox="1"/>
          <p:nvPr/>
        </p:nvSpPr>
        <p:spPr>
          <a:xfrm>
            <a:off x="5577840" y="1371600"/>
            <a:ext cx="3063240" cy="13716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2. Prioritise</a:t>
            </a:r>
            <a:endParaRPr lang="en-US" sz="1800" dirty="0"/>
          </a:p>
          <a:p>
            <a:pPr indent="0" marL="0">
              <a:spcAft>
                <a:spcPts val="400"/>
              </a:spcAft>
              <a:buNone/>
            </a:pPr>
            <a:r>
              <a:rPr lang="en-US" sz="1400" dirty="0">
                <a:solidFill>
                  <a:schemeClr val="tx1"/>
                </a:solidFill>
              </a:rPr>
              <a:t>Flag hotspots: villages that stay high-risk month after month</a:t>
            </a:r>
            <a:endParaRPr lang="en-US" sz="1800" dirty="0"/>
          </a:p>
        </p:txBody>
      </p:sp>
      <p:sp>
        <p:nvSpPr>
          <p:cNvPr id="9" name="objective 3 circle"/>
          <p:cNvSpPr/>
          <p:nvPr/>
        </p:nvSpPr>
        <p:spPr>
          <a:xfrm>
            <a:off x="457200" y="2926080"/>
            <a:ext cx="731520" cy="731520"/>
          </a:xfrm>
          <a:prstGeom prst="ellipse">
            <a:avLst/>
          </a:prstGeom>
          <a:solidFill>
            <a:schemeClr val="tx2"/>
          </a:solidFill>
          <a:ln w="12700">
            <a:solidFill>
              <a:schemeClr val="tx2"/>
            </a:solidFill>
            <a:prstDash val="solid"/>
          </a:ln>
        </p:spPr>
      </p:sp>
      <p:pic>
        <p:nvPicPr>
          <p:cNvPr id="10" name="objective 3 icon" descr="preencoded.png">    </p:cNvPr>
          <p:cNvPicPr>
            <a:picLocks noChangeAspect="1"/>
          </p:cNvPicPr>
          <p:nvPr/>
        </p:nvPicPr>
        <p:blipFill>
          <a:blip r:embed="rId3"/>
          <a:stretch>
            <a:fillRect/>
          </a:stretch>
        </p:blipFill>
        <p:spPr>
          <a:xfrm>
            <a:off x="654710" y="3123590"/>
            <a:ext cx="336499" cy="336499"/>
          </a:xfrm>
          <a:prstGeom prst="rect">
            <a:avLst/>
          </a:prstGeom>
        </p:spPr>
      </p:pic>
      <p:sp>
        <p:nvSpPr>
          <p:cNvPr id="11" name="objective 3 text"/>
          <p:cNvSpPr txBox="1"/>
          <p:nvPr/>
        </p:nvSpPr>
        <p:spPr>
          <a:xfrm>
            <a:off x="1371600" y="2880360"/>
            <a:ext cx="3063240" cy="13716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3. Allocate</a:t>
            </a:r>
            <a:endParaRPr lang="en-US" sz="1800" dirty="0"/>
          </a:p>
          <a:p>
            <a:pPr indent="0" marL="0">
              <a:spcAft>
                <a:spcPts val="400"/>
              </a:spcAft>
              <a:buNone/>
            </a:pPr>
            <a:r>
              <a:rPr lang="en-US" sz="1400" dirty="0">
                <a:solidFill>
                  <a:schemeClr val="tx1"/>
                </a:solidFill>
              </a:rPr>
              <a:t>Share scarce RO units and water bowsers by negotiation, not a fixed rule</a:t>
            </a:r>
            <a:endParaRPr lang="en-US" sz="1800" dirty="0"/>
          </a:p>
        </p:txBody>
      </p:sp>
      <p:sp>
        <p:nvSpPr>
          <p:cNvPr id="12" name="objective 4 circle"/>
          <p:cNvSpPr/>
          <p:nvPr/>
        </p:nvSpPr>
        <p:spPr>
          <a:xfrm>
            <a:off x="4663440" y="2926080"/>
            <a:ext cx="731520" cy="731520"/>
          </a:xfrm>
          <a:prstGeom prst="ellipse">
            <a:avLst/>
          </a:prstGeom>
          <a:solidFill>
            <a:schemeClr val="tx2"/>
          </a:solidFill>
          <a:ln w="12700">
            <a:solidFill>
              <a:schemeClr val="tx2"/>
            </a:solidFill>
            <a:prstDash val="solid"/>
          </a:ln>
        </p:spPr>
      </p:sp>
      <p:pic>
        <p:nvPicPr>
          <p:cNvPr id="13" name="objective 4 icon" descr="preencoded.png">    </p:cNvPr>
          <p:cNvPicPr>
            <a:picLocks noChangeAspect="1"/>
          </p:cNvPicPr>
          <p:nvPr/>
        </p:nvPicPr>
        <p:blipFill>
          <a:blip r:embed="rId4"/>
          <a:stretch>
            <a:fillRect/>
          </a:stretch>
        </p:blipFill>
        <p:spPr>
          <a:xfrm>
            <a:off x="4860950" y="3123590"/>
            <a:ext cx="336499" cy="336499"/>
          </a:xfrm>
          <a:prstGeom prst="rect">
            <a:avLst/>
          </a:prstGeom>
        </p:spPr>
      </p:pic>
      <p:sp>
        <p:nvSpPr>
          <p:cNvPr id="14" name="objective 4 text"/>
          <p:cNvSpPr txBox="1"/>
          <p:nvPr/>
        </p:nvSpPr>
        <p:spPr>
          <a:xfrm>
            <a:off x="5577840" y="2880360"/>
            <a:ext cx="3063240" cy="13716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4. Alert</a:t>
            </a:r>
            <a:endParaRPr lang="en-US" sz="1800" dirty="0"/>
          </a:p>
          <a:p>
            <a:pPr indent="0" marL="0">
              <a:spcAft>
                <a:spcPts val="400"/>
              </a:spcAft>
              <a:buNone/>
            </a:pPr>
            <a:r>
              <a:rPr lang="en-US" sz="1400" dirty="0">
                <a:solidFill>
                  <a:schemeClr val="tx1"/>
                </a:solidFill>
              </a:rPr>
              <a:t>Send early, calm, non-diagnostic guidance to affected villages</a:t>
            </a:r>
            <a:endParaRPr lang="en-US" sz="18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Why a multi-agent system</a:t>
            </a:r>
            <a:endParaRPr lang="en-US" sz="3600" dirty="0"/>
          </a:p>
        </p:txBody>
      </p:sp>
      <p:sp>
        <p:nvSpPr>
          <p:cNvPr id="3" name="why 1 card"/>
          <p:cNvSpPr/>
          <p:nvPr/>
        </p:nvSpPr>
        <p:spPr>
          <a:xfrm>
            <a:off x="457200" y="1188720"/>
            <a:ext cx="2560320" cy="2606040"/>
          </a:xfrm>
          <a:prstGeom prst="roundRect">
            <a:avLst>
              <a:gd name="adj" fmla="val 2857"/>
            </a:avLst>
          </a:prstGeom>
          <a:solidFill>
            <a:schemeClr val="bg2"/>
          </a:solidFill>
          <a:ln w="12700">
            <a:solidFill>
              <a:schemeClr val="bg2"/>
            </a:solidFill>
            <a:prstDash val="solid"/>
          </a:ln>
        </p:spPr>
      </p:sp>
      <p:sp>
        <p:nvSpPr>
          <p:cNvPr id="4" name="why 1 circle"/>
          <p:cNvSpPr/>
          <p:nvPr/>
        </p:nvSpPr>
        <p:spPr>
          <a:xfrm>
            <a:off x="1371600" y="1463040"/>
            <a:ext cx="731520" cy="731520"/>
          </a:xfrm>
          <a:prstGeom prst="ellipse">
            <a:avLst/>
          </a:prstGeom>
          <a:solidFill>
            <a:schemeClr val="tx2"/>
          </a:solidFill>
          <a:ln w="12700">
            <a:solidFill>
              <a:schemeClr val="tx2"/>
            </a:solidFill>
            <a:prstDash val="solid"/>
          </a:ln>
        </p:spPr>
      </p:sp>
      <p:pic>
        <p:nvPicPr>
          <p:cNvPr id="5" name="why 1 icon" descr="preencoded.png">    </p:cNvPr>
          <p:cNvPicPr>
            <a:picLocks noChangeAspect="1"/>
          </p:cNvPicPr>
          <p:nvPr/>
        </p:nvPicPr>
        <p:blipFill>
          <a:blip r:embed="rId1"/>
          <a:stretch>
            <a:fillRect/>
          </a:stretch>
        </p:blipFill>
        <p:spPr>
          <a:xfrm>
            <a:off x="1569110" y="1660550"/>
            <a:ext cx="336499" cy="336499"/>
          </a:xfrm>
          <a:prstGeom prst="rect">
            <a:avLst/>
          </a:prstGeom>
        </p:spPr>
      </p:pic>
      <p:sp>
        <p:nvSpPr>
          <p:cNvPr id="6" name="why 1 text"/>
          <p:cNvSpPr txBox="1"/>
          <p:nvPr/>
        </p:nvSpPr>
        <p:spPr>
          <a:xfrm>
            <a:off x="640080" y="2331720"/>
            <a:ext cx="2194560" cy="1371600"/>
          </a:xfrm>
          <a:prstGeom prst="rect">
            <a:avLst/>
          </a:prstGeom>
          <a:noFill/>
          <a:ln/>
        </p:spPr>
        <p:txBody>
          <a:bodyPr wrap="square" lIns="0" tIns="0" rIns="0" bIns="0" rtlCol="0" anchor="t"/>
          <a:lstStyle/>
          <a:p>
            <a:pPr algn="ctr" indent="0" marL="0">
              <a:spcAft>
                <a:spcPts val="600"/>
              </a:spcAft>
              <a:buNone/>
            </a:pPr>
            <a:r>
              <a:rPr lang="en-US" sz="1700" b="1" dirty="0">
                <a:solidFill>
                  <a:schemeClr val="tx2"/>
                </a:solidFill>
              </a:rPr>
              <a:t>Autonomy</a:t>
            </a:r>
            <a:endParaRPr lang="en-US" sz="1700" dirty="0"/>
          </a:p>
          <a:p>
            <a:pPr algn="ctr" indent="0" marL="0">
              <a:spcAft>
                <a:spcPts val="600"/>
              </a:spcAft>
              <a:buNone/>
            </a:pPr>
            <a:r>
              <a:rPr lang="en-US" sz="1400" dirty="0">
                <a:solidFill>
                  <a:schemeClr val="tx1"/>
                </a:solidFill>
              </a:rPr>
              <a:t>Each village agent decides for itself: bid for a unit or refuse</a:t>
            </a:r>
            <a:endParaRPr lang="en-US" sz="1700" dirty="0"/>
          </a:p>
        </p:txBody>
      </p:sp>
      <p:sp>
        <p:nvSpPr>
          <p:cNvPr id="7" name="why 2 card"/>
          <p:cNvSpPr/>
          <p:nvPr/>
        </p:nvSpPr>
        <p:spPr>
          <a:xfrm>
            <a:off x="3291840" y="1188720"/>
            <a:ext cx="2560320" cy="2606040"/>
          </a:xfrm>
          <a:prstGeom prst="roundRect">
            <a:avLst>
              <a:gd name="adj" fmla="val 2857"/>
            </a:avLst>
          </a:prstGeom>
          <a:solidFill>
            <a:schemeClr val="bg2"/>
          </a:solidFill>
          <a:ln w="12700">
            <a:solidFill>
              <a:schemeClr val="bg2"/>
            </a:solidFill>
            <a:prstDash val="solid"/>
          </a:ln>
        </p:spPr>
      </p:sp>
      <p:sp>
        <p:nvSpPr>
          <p:cNvPr id="8" name="why 2 circle"/>
          <p:cNvSpPr/>
          <p:nvPr/>
        </p:nvSpPr>
        <p:spPr>
          <a:xfrm>
            <a:off x="4206240" y="1463040"/>
            <a:ext cx="731520" cy="731520"/>
          </a:xfrm>
          <a:prstGeom prst="ellipse">
            <a:avLst/>
          </a:prstGeom>
          <a:solidFill>
            <a:schemeClr val="tx2"/>
          </a:solidFill>
          <a:ln w="12700">
            <a:solidFill>
              <a:schemeClr val="tx2"/>
            </a:solidFill>
            <a:prstDash val="solid"/>
          </a:ln>
        </p:spPr>
      </p:sp>
      <p:pic>
        <p:nvPicPr>
          <p:cNvPr id="9" name="why 2 icon" descr="preencoded.png">    </p:cNvPr>
          <p:cNvPicPr>
            <a:picLocks noChangeAspect="1"/>
          </p:cNvPicPr>
          <p:nvPr/>
        </p:nvPicPr>
        <p:blipFill>
          <a:blip r:embed="rId2"/>
          <a:stretch>
            <a:fillRect/>
          </a:stretch>
        </p:blipFill>
        <p:spPr>
          <a:xfrm>
            <a:off x="4403750" y="1660550"/>
            <a:ext cx="336499" cy="336499"/>
          </a:xfrm>
          <a:prstGeom prst="rect">
            <a:avLst/>
          </a:prstGeom>
        </p:spPr>
      </p:pic>
      <p:sp>
        <p:nvSpPr>
          <p:cNvPr id="10" name="why 2 text"/>
          <p:cNvSpPr txBox="1"/>
          <p:nvPr/>
        </p:nvSpPr>
        <p:spPr>
          <a:xfrm>
            <a:off x="3474720" y="2331720"/>
            <a:ext cx="2194560" cy="1371600"/>
          </a:xfrm>
          <a:prstGeom prst="rect">
            <a:avLst/>
          </a:prstGeom>
          <a:noFill/>
          <a:ln/>
        </p:spPr>
        <p:txBody>
          <a:bodyPr wrap="square" lIns="0" tIns="0" rIns="0" bIns="0" rtlCol="0" anchor="t"/>
          <a:lstStyle/>
          <a:p>
            <a:pPr algn="ctr" indent="0" marL="0">
              <a:spcAft>
                <a:spcPts val="600"/>
              </a:spcAft>
              <a:buNone/>
            </a:pPr>
            <a:r>
              <a:rPr lang="en-US" sz="1700" b="1" dirty="0">
                <a:solidFill>
                  <a:schemeClr val="tx2"/>
                </a:solidFill>
              </a:rPr>
              <a:t>Distributed knowledge</a:t>
            </a:r>
            <a:endParaRPr lang="en-US" sz="1700" dirty="0"/>
          </a:p>
          <a:p>
            <a:pPr algn="ctr" indent="0" marL="0">
              <a:spcAft>
                <a:spcPts val="600"/>
              </a:spcAft>
              <a:buNone/>
            </a:pPr>
            <a:r>
              <a:rPr lang="en-US" sz="1400" dirty="0">
                <a:solidFill>
                  <a:schemeClr val="tx1"/>
                </a:solidFill>
              </a:rPr>
              <a:t>No agent sees the whole picture; information moves only as messages</a:t>
            </a:r>
            <a:endParaRPr lang="en-US" sz="1700" dirty="0"/>
          </a:p>
        </p:txBody>
      </p:sp>
      <p:sp>
        <p:nvSpPr>
          <p:cNvPr id="11" name="why 3 card"/>
          <p:cNvSpPr/>
          <p:nvPr/>
        </p:nvSpPr>
        <p:spPr>
          <a:xfrm>
            <a:off x="6126480" y="1188720"/>
            <a:ext cx="2560320" cy="2606040"/>
          </a:xfrm>
          <a:prstGeom prst="roundRect">
            <a:avLst>
              <a:gd name="adj" fmla="val 2857"/>
            </a:avLst>
          </a:prstGeom>
          <a:solidFill>
            <a:schemeClr val="bg2"/>
          </a:solidFill>
          <a:ln w="12700">
            <a:solidFill>
              <a:schemeClr val="bg2"/>
            </a:solidFill>
            <a:prstDash val="solid"/>
          </a:ln>
        </p:spPr>
      </p:sp>
      <p:sp>
        <p:nvSpPr>
          <p:cNvPr id="12" name="why 3 circle"/>
          <p:cNvSpPr/>
          <p:nvPr/>
        </p:nvSpPr>
        <p:spPr>
          <a:xfrm>
            <a:off x="7040880" y="1463040"/>
            <a:ext cx="731520" cy="731520"/>
          </a:xfrm>
          <a:prstGeom prst="ellipse">
            <a:avLst/>
          </a:prstGeom>
          <a:solidFill>
            <a:schemeClr val="tx2"/>
          </a:solidFill>
          <a:ln w="12700">
            <a:solidFill>
              <a:schemeClr val="tx2"/>
            </a:solidFill>
            <a:prstDash val="solid"/>
          </a:ln>
        </p:spPr>
      </p:sp>
      <p:pic>
        <p:nvPicPr>
          <p:cNvPr id="13" name="why 3 icon" descr="preencoded.png">    </p:cNvPr>
          <p:cNvPicPr>
            <a:picLocks noChangeAspect="1"/>
          </p:cNvPicPr>
          <p:nvPr/>
        </p:nvPicPr>
        <p:blipFill>
          <a:blip r:embed="rId3"/>
          <a:stretch>
            <a:fillRect/>
          </a:stretch>
        </p:blipFill>
        <p:spPr>
          <a:xfrm>
            <a:off x="7238390" y="1660550"/>
            <a:ext cx="336499" cy="336499"/>
          </a:xfrm>
          <a:prstGeom prst="rect">
            <a:avLst/>
          </a:prstGeom>
        </p:spPr>
      </p:pic>
      <p:sp>
        <p:nvSpPr>
          <p:cNvPr id="14" name="why 3 text"/>
          <p:cNvSpPr txBox="1"/>
          <p:nvPr/>
        </p:nvSpPr>
        <p:spPr>
          <a:xfrm>
            <a:off x="6309360" y="2331720"/>
            <a:ext cx="2194560" cy="1371600"/>
          </a:xfrm>
          <a:prstGeom prst="rect">
            <a:avLst/>
          </a:prstGeom>
          <a:noFill/>
          <a:ln/>
        </p:spPr>
        <p:txBody>
          <a:bodyPr wrap="square" lIns="0" tIns="0" rIns="0" bIns="0" rtlCol="0" anchor="t"/>
          <a:lstStyle/>
          <a:p>
            <a:pPr algn="ctr" indent="0" marL="0">
              <a:spcAft>
                <a:spcPts val="600"/>
              </a:spcAft>
              <a:buNone/>
            </a:pPr>
            <a:r>
              <a:rPr lang="en-US" sz="1700" b="1" dirty="0">
                <a:solidFill>
                  <a:schemeClr val="tx2"/>
                </a:solidFill>
              </a:rPr>
              <a:t>Coordination under scarcity</a:t>
            </a:r>
            <a:endParaRPr lang="en-US" sz="1700" dirty="0"/>
          </a:p>
          <a:p>
            <a:pPr algn="ctr" indent="0" marL="0">
              <a:spcAft>
                <a:spcPts val="600"/>
              </a:spcAft>
              <a:buNone/>
            </a:pPr>
            <a:r>
              <a:rPr lang="en-US" sz="1400" dirty="0">
                <a:solidFill>
                  <a:schemeClr val="tx1"/>
                </a:solidFill>
              </a:rPr>
              <a:t>3 RO units for 11 villages: a negotiation problem, not just a sort</a:t>
            </a:r>
            <a:endParaRPr lang="en-US" sz="1700" dirty="0"/>
          </a:p>
        </p:txBody>
      </p:sp>
      <p:sp>
        <p:nvSpPr>
          <p:cNvPr id="15" name="tech line"/>
          <p:cNvSpPr txBox="1"/>
          <p:nvPr/>
        </p:nvSpPr>
        <p:spPr>
          <a:xfrm>
            <a:off x="457200" y="3977640"/>
            <a:ext cx="8229600" cy="457200"/>
          </a:xfrm>
          <a:prstGeom prst="rect">
            <a:avLst/>
          </a:prstGeom>
          <a:noFill/>
          <a:ln/>
        </p:spPr>
        <p:txBody>
          <a:bodyPr wrap="square" lIns="0" tIns="0" rIns="0" bIns="0" rtlCol="0" anchor="ctr"/>
          <a:lstStyle/>
          <a:p>
            <a:pPr algn="ctr" indent="0" marL="0">
              <a:buNone/>
            </a:pPr>
            <a:r>
              <a:rPr lang="en-US" sz="1400" dirty="0">
                <a:solidFill>
                  <a:schemeClr val="tx1"/>
                </a:solidFill>
              </a:rPr>
              <a:t>Built with </a:t>
            </a:r>
            <a:pPr algn="ctr" indent="0" marL="0">
              <a:buNone/>
            </a:pPr>
            <a:r>
              <a:rPr lang="en-US" sz="1400" b="1" dirty="0">
                <a:solidFill>
                  <a:schemeClr val="tx2"/>
                </a:solidFill>
              </a:rPr>
              <a:t>Python + SPADE</a:t>
            </a:r>
            <a:pPr algn="ctr" indent="0" marL="0">
              <a:buNone/>
            </a:pPr>
            <a:r>
              <a:rPr lang="en-US" sz="1400" dirty="0">
                <a:solidFill>
                  <a:schemeClr val="tx1"/>
                </a:solidFill>
              </a:rPr>
              <a:t> (XMPP messaging, FIPA-ACL performatives)  ·  </a:t>
            </a:r>
            <a:pPr algn="ctr" indent="0" marL="0">
              <a:buNone/>
            </a:pPr>
            <a:r>
              <a:rPr lang="en-US" sz="1400" b="1" dirty="0">
                <a:solidFill>
                  <a:schemeClr val="accent2"/>
                </a:solidFill>
              </a:rPr>
              <a:t>31 agents</a:t>
            </a:r>
            <a:pPr algn="ctr" indent="0" marL="0">
              <a:buNone/>
            </a:pPr>
            <a:r>
              <a:rPr lang="en-US" sz="1400" dirty="0">
                <a:solidFill>
                  <a:schemeClr val="tx1"/>
                </a:solidFill>
              </a:rPr>
              <a:t> run in a 12-month simulation</a:t>
            </a:r>
            <a:endParaRPr lang="en-US" sz="14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System architecture</a:t>
            </a:r>
            <a:endParaRPr lang="en-US" sz="3600" dirty="0"/>
          </a:p>
        </p:txBody>
      </p:sp>
      <p:sp>
        <p:nvSpPr>
          <p:cNvPr id="3" name="ClockAgent box"/>
          <p:cNvSpPr/>
          <p:nvPr/>
        </p:nvSpPr>
        <p:spPr>
          <a:xfrm>
            <a:off x="457200" y="1234440"/>
            <a:ext cx="1417320" cy="1051560"/>
          </a:xfrm>
          <a:prstGeom prst="roundRect">
            <a:avLst>
              <a:gd name="adj" fmla="val 6957"/>
            </a:avLst>
          </a:prstGeom>
          <a:solidFill>
            <a:schemeClr val="bg2"/>
          </a:solidFill>
          <a:ln w="12700">
            <a:solidFill>
              <a:schemeClr val="bg2"/>
            </a:solidFill>
            <a:prstDash val="solid"/>
          </a:ln>
        </p:spPr>
      </p:sp>
      <p:pic>
        <p:nvPicPr>
          <p:cNvPr id="4" name="ClockAgent icon" descr="preencoded.png">    </p:cNvPr>
          <p:cNvPicPr>
            <a:picLocks noChangeAspect="1"/>
          </p:cNvPicPr>
          <p:nvPr/>
        </p:nvPicPr>
        <p:blipFill>
          <a:blip r:embed="rId1"/>
          <a:stretch>
            <a:fillRect/>
          </a:stretch>
        </p:blipFill>
        <p:spPr>
          <a:xfrm>
            <a:off x="964692" y="1371600"/>
            <a:ext cx="402336" cy="402336"/>
          </a:xfrm>
          <a:prstGeom prst="rect">
            <a:avLst/>
          </a:prstGeom>
        </p:spPr>
      </p:pic>
      <p:sp>
        <p:nvSpPr>
          <p:cNvPr id="5" name="ClockAgent label"/>
          <p:cNvSpPr txBox="1"/>
          <p:nvPr/>
        </p:nvSpPr>
        <p:spPr>
          <a:xfrm>
            <a:off x="502920" y="1828800"/>
            <a:ext cx="1325880" cy="365760"/>
          </a:xfrm>
          <a:prstGeom prst="rect">
            <a:avLst/>
          </a:prstGeom>
          <a:noFill/>
          <a:ln/>
        </p:spPr>
        <p:txBody>
          <a:bodyPr wrap="square" lIns="0" tIns="0" rIns="0" bIns="0" rtlCol="0" anchor="ctr"/>
          <a:lstStyle/>
          <a:p>
            <a:pPr algn="ctr" indent="0" marL="0">
              <a:buNone/>
            </a:pPr>
            <a:r>
              <a:rPr lang="en-US" sz="1200" b="1" dirty="0">
                <a:solidFill>
                  <a:schemeClr val="tx2"/>
                </a:solidFill>
              </a:rPr>
              <a:t>ClockAgent</a:t>
            </a:r>
            <a:endParaRPr lang="en-US" sz="1200" dirty="0"/>
          </a:p>
        </p:txBody>
      </p:sp>
      <p:sp>
        <p:nvSpPr>
          <p:cNvPr id="6" name="ClockAgent owner badge"/>
          <p:cNvSpPr/>
          <p:nvPr/>
        </p:nvSpPr>
        <p:spPr>
          <a:xfrm>
            <a:off x="1581912" y="1124712"/>
            <a:ext cx="329184" cy="329184"/>
          </a:xfrm>
          <a:prstGeom prst="ellipse">
            <a:avLst/>
          </a:prstGeom>
          <a:solidFill>
            <a:schemeClr val="accent2"/>
          </a:solidFill>
          <a:ln w="12700">
            <a:solidFill>
              <a:schemeClr val="accent2"/>
            </a:solidFill>
            <a:prstDash val="solid"/>
          </a:ln>
        </p:spPr>
      </p:sp>
      <p:sp>
        <p:nvSpPr>
          <p:cNvPr id="7" name="ClockAgent owner"/>
          <p:cNvSpPr txBox="1"/>
          <p:nvPr/>
        </p:nvSpPr>
        <p:spPr>
          <a:xfrm>
            <a:off x="1581912" y="112471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8" name="arrow 1"/>
          <p:cNvSpPr/>
          <p:nvPr/>
        </p:nvSpPr>
        <p:spPr>
          <a:xfrm>
            <a:off x="1901952" y="1760220"/>
            <a:ext cx="228600" cy="0"/>
          </a:xfrm>
          <a:prstGeom prst="line">
            <a:avLst/>
          </a:prstGeom>
          <a:noFill/>
          <a:ln w="25400">
            <a:solidFill>
              <a:schemeClr val="accent6"/>
            </a:solidFill>
            <a:prstDash val="solid"/>
            <a:tailEnd type="triangle"/>
          </a:ln>
        </p:spPr>
      </p:sp>
      <p:sp>
        <p:nvSpPr>
          <p:cNvPr id="9" name="WellMonitorAgent box"/>
          <p:cNvSpPr/>
          <p:nvPr/>
        </p:nvSpPr>
        <p:spPr>
          <a:xfrm>
            <a:off x="2157984" y="1234440"/>
            <a:ext cx="1417320" cy="1051560"/>
          </a:xfrm>
          <a:prstGeom prst="roundRect">
            <a:avLst>
              <a:gd name="adj" fmla="val 6957"/>
            </a:avLst>
          </a:prstGeom>
          <a:solidFill>
            <a:schemeClr val="bg2"/>
          </a:solidFill>
          <a:ln w="12700">
            <a:solidFill>
              <a:schemeClr val="bg2"/>
            </a:solidFill>
            <a:prstDash val="solid"/>
          </a:ln>
        </p:spPr>
      </p:sp>
      <p:pic>
        <p:nvPicPr>
          <p:cNvPr id="10" name="WellMonitorAgent icon" descr="preencoded.png">    </p:cNvPr>
          <p:cNvPicPr>
            <a:picLocks noChangeAspect="1"/>
          </p:cNvPicPr>
          <p:nvPr/>
        </p:nvPicPr>
        <p:blipFill>
          <a:blip r:embed="rId2"/>
          <a:stretch>
            <a:fillRect/>
          </a:stretch>
        </p:blipFill>
        <p:spPr>
          <a:xfrm>
            <a:off x="2665476" y="1371600"/>
            <a:ext cx="402336" cy="402336"/>
          </a:xfrm>
          <a:prstGeom prst="rect">
            <a:avLst/>
          </a:prstGeom>
        </p:spPr>
      </p:pic>
      <p:sp>
        <p:nvSpPr>
          <p:cNvPr id="11" name="WellMonitorAgent label"/>
          <p:cNvSpPr txBox="1"/>
          <p:nvPr/>
        </p:nvSpPr>
        <p:spPr>
          <a:xfrm>
            <a:off x="2203704" y="1828800"/>
            <a:ext cx="1325880" cy="365760"/>
          </a:xfrm>
          <a:prstGeom prst="rect">
            <a:avLst/>
          </a:prstGeom>
          <a:noFill/>
          <a:ln/>
        </p:spPr>
        <p:txBody>
          <a:bodyPr wrap="square" lIns="0" tIns="0" rIns="0" bIns="0" rtlCol="0" anchor="ctr"/>
          <a:lstStyle/>
          <a:p>
            <a:pPr algn="ctr" indent="0" marL="0">
              <a:buNone/>
            </a:pPr>
            <a:r>
              <a:rPr lang="en-US" sz="1200" b="1" dirty="0">
                <a:solidFill>
                  <a:schemeClr val="tx2"/>
                </a:solidFill>
              </a:rPr>
              <a:t>WellMonitorAgent</a:t>
            </a:r>
            <a:endParaRPr lang="en-US" sz="1200" dirty="0"/>
          </a:p>
        </p:txBody>
      </p:sp>
      <p:sp>
        <p:nvSpPr>
          <p:cNvPr id="12" name="WellMonitorAgent owner badge"/>
          <p:cNvSpPr/>
          <p:nvPr/>
        </p:nvSpPr>
        <p:spPr>
          <a:xfrm>
            <a:off x="3282696" y="1124712"/>
            <a:ext cx="329184" cy="329184"/>
          </a:xfrm>
          <a:prstGeom prst="ellipse">
            <a:avLst/>
          </a:prstGeom>
          <a:solidFill>
            <a:schemeClr val="accent2"/>
          </a:solidFill>
          <a:ln w="12700">
            <a:solidFill>
              <a:schemeClr val="accent2"/>
            </a:solidFill>
            <a:prstDash val="solid"/>
          </a:ln>
        </p:spPr>
      </p:sp>
      <p:sp>
        <p:nvSpPr>
          <p:cNvPr id="13" name="WellMonitorAgent owner"/>
          <p:cNvSpPr txBox="1"/>
          <p:nvPr/>
        </p:nvSpPr>
        <p:spPr>
          <a:xfrm>
            <a:off x="3282696" y="112471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14" name="arrow 2"/>
          <p:cNvSpPr/>
          <p:nvPr/>
        </p:nvSpPr>
        <p:spPr>
          <a:xfrm>
            <a:off x="3602736" y="1760220"/>
            <a:ext cx="228600" cy="0"/>
          </a:xfrm>
          <a:prstGeom prst="line">
            <a:avLst/>
          </a:prstGeom>
          <a:noFill/>
          <a:ln w="25400">
            <a:solidFill>
              <a:schemeClr val="accent6"/>
            </a:solidFill>
            <a:prstDash val="solid"/>
            <a:tailEnd type="triangle"/>
          </a:ln>
        </p:spPr>
      </p:sp>
      <p:sp>
        <p:nvSpPr>
          <p:cNvPr id="15" name="RiskScoringAgent box"/>
          <p:cNvSpPr/>
          <p:nvPr/>
        </p:nvSpPr>
        <p:spPr>
          <a:xfrm>
            <a:off x="3858768" y="1234440"/>
            <a:ext cx="1417320" cy="1051560"/>
          </a:xfrm>
          <a:prstGeom prst="roundRect">
            <a:avLst>
              <a:gd name="adj" fmla="val 6957"/>
            </a:avLst>
          </a:prstGeom>
          <a:solidFill>
            <a:schemeClr val="bg2"/>
          </a:solidFill>
          <a:ln w="12700">
            <a:solidFill>
              <a:schemeClr val="bg2"/>
            </a:solidFill>
            <a:prstDash val="solid"/>
          </a:ln>
        </p:spPr>
      </p:sp>
      <p:pic>
        <p:nvPicPr>
          <p:cNvPr id="16" name="RiskScoringAgent icon" descr="preencoded.png">    </p:cNvPr>
          <p:cNvPicPr>
            <a:picLocks noChangeAspect="1"/>
          </p:cNvPicPr>
          <p:nvPr/>
        </p:nvPicPr>
        <p:blipFill>
          <a:blip r:embed="rId3"/>
          <a:stretch>
            <a:fillRect/>
          </a:stretch>
        </p:blipFill>
        <p:spPr>
          <a:xfrm>
            <a:off x="4366260" y="1371600"/>
            <a:ext cx="402336" cy="402336"/>
          </a:xfrm>
          <a:prstGeom prst="rect">
            <a:avLst/>
          </a:prstGeom>
        </p:spPr>
      </p:pic>
      <p:sp>
        <p:nvSpPr>
          <p:cNvPr id="17" name="RiskScoringAgent label"/>
          <p:cNvSpPr txBox="1"/>
          <p:nvPr/>
        </p:nvSpPr>
        <p:spPr>
          <a:xfrm>
            <a:off x="3904488" y="1828800"/>
            <a:ext cx="1325880" cy="365760"/>
          </a:xfrm>
          <a:prstGeom prst="rect">
            <a:avLst/>
          </a:prstGeom>
          <a:noFill/>
          <a:ln/>
        </p:spPr>
        <p:txBody>
          <a:bodyPr wrap="square" lIns="0" tIns="0" rIns="0" bIns="0" rtlCol="0" anchor="ctr"/>
          <a:lstStyle/>
          <a:p>
            <a:pPr algn="ctr" indent="0" marL="0">
              <a:buNone/>
            </a:pPr>
            <a:r>
              <a:rPr lang="en-US" sz="1200" b="1" dirty="0">
                <a:solidFill>
                  <a:schemeClr val="tx2"/>
                </a:solidFill>
              </a:rPr>
              <a:t>RiskScoringAgent</a:t>
            </a:r>
            <a:endParaRPr lang="en-US" sz="1200" dirty="0"/>
          </a:p>
        </p:txBody>
      </p:sp>
      <p:sp>
        <p:nvSpPr>
          <p:cNvPr id="18" name="RiskScoringAgent owner badge"/>
          <p:cNvSpPr/>
          <p:nvPr/>
        </p:nvSpPr>
        <p:spPr>
          <a:xfrm>
            <a:off x="4983480" y="1124712"/>
            <a:ext cx="329184" cy="329184"/>
          </a:xfrm>
          <a:prstGeom prst="ellipse">
            <a:avLst/>
          </a:prstGeom>
          <a:solidFill>
            <a:schemeClr val="accent2"/>
          </a:solidFill>
          <a:ln w="12700">
            <a:solidFill>
              <a:schemeClr val="accent2"/>
            </a:solidFill>
            <a:prstDash val="solid"/>
          </a:ln>
        </p:spPr>
      </p:sp>
      <p:sp>
        <p:nvSpPr>
          <p:cNvPr id="19" name="RiskScoringAgent owner"/>
          <p:cNvSpPr txBox="1"/>
          <p:nvPr/>
        </p:nvSpPr>
        <p:spPr>
          <a:xfrm>
            <a:off x="4983480" y="112471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20" name="arrow 3"/>
          <p:cNvSpPr/>
          <p:nvPr/>
        </p:nvSpPr>
        <p:spPr>
          <a:xfrm>
            <a:off x="5303520" y="1760220"/>
            <a:ext cx="228600" cy="0"/>
          </a:xfrm>
          <a:prstGeom prst="line">
            <a:avLst/>
          </a:prstGeom>
          <a:noFill/>
          <a:ln w="25400">
            <a:solidFill>
              <a:schemeClr val="accent6"/>
            </a:solidFill>
            <a:prstDash val="solid"/>
            <a:tailEnd type="triangle"/>
          </a:ln>
        </p:spPr>
      </p:sp>
      <p:sp>
        <p:nvSpPr>
          <p:cNvPr id="21" name="HotspotAgent box"/>
          <p:cNvSpPr/>
          <p:nvPr/>
        </p:nvSpPr>
        <p:spPr>
          <a:xfrm>
            <a:off x="5559552" y="1234440"/>
            <a:ext cx="1417320" cy="1051560"/>
          </a:xfrm>
          <a:prstGeom prst="roundRect">
            <a:avLst>
              <a:gd name="adj" fmla="val 6957"/>
            </a:avLst>
          </a:prstGeom>
          <a:solidFill>
            <a:schemeClr val="bg2"/>
          </a:solidFill>
          <a:ln w="12700">
            <a:solidFill>
              <a:schemeClr val="bg2"/>
            </a:solidFill>
            <a:prstDash val="solid"/>
          </a:ln>
        </p:spPr>
      </p:sp>
      <p:pic>
        <p:nvPicPr>
          <p:cNvPr id="22" name="HotspotAgent icon" descr="preencoded.png">    </p:cNvPr>
          <p:cNvPicPr>
            <a:picLocks noChangeAspect="1"/>
          </p:cNvPicPr>
          <p:nvPr/>
        </p:nvPicPr>
        <p:blipFill>
          <a:blip r:embed="rId4"/>
          <a:stretch>
            <a:fillRect/>
          </a:stretch>
        </p:blipFill>
        <p:spPr>
          <a:xfrm>
            <a:off x="6067044" y="1371600"/>
            <a:ext cx="402336" cy="402336"/>
          </a:xfrm>
          <a:prstGeom prst="rect">
            <a:avLst/>
          </a:prstGeom>
        </p:spPr>
      </p:pic>
      <p:sp>
        <p:nvSpPr>
          <p:cNvPr id="23" name="HotspotAgent label"/>
          <p:cNvSpPr txBox="1"/>
          <p:nvPr/>
        </p:nvSpPr>
        <p:spPr>
          <a:xfrm>
            <a:off x="5605272" y="1828800"/>
            <a:ext cx="1325880" cy="365760"/>
          </a:xfrm>
          <a:prstGeom prst="rect">
            <a:avLst/>
          </a:prstGeom>
          <a:noFill/>
          <a:ln/>
        </p:spPr>
        <p:txBody>
          <a:bodyPr wrap="square" lIns="0" tIns="0" rIns="0" bIns="0" rtlCol="0" anchor="ctr"/>
          <a:lstStyle/>
          <a:p>
            <a:pPr algn="ctr" indent="0" marL="0">
              <a:buNone/>
            </a:pPr>
            <a:r>
              <a:rPr lang="en-US" sz="1200" b="1" dirty="0">
                <a:solidFill>
                  <a:schemeClr val="tx2"/>
                </a:solidFill>
              </a:rPr>
              <a:t>HotspotAgent</a:t>
            </a:r>
            <a:endParaRPr lang="en-US" sz="1200" dirty="0"/>
          </a:p>
        </p:txBody>
      </p:sp>
      <p:sp>
        <p:nvSpPr>
          <p:cNvPr id="24" name="HotspotAgent owner badge"/>
          <p:cNvSpPr/>
          <p:nvPr/>
        </p:nvSpPr>
        <p:spPr>
          <a:xfrm>
            <a:off x="6684264" y="1124712"/>
            <a:ext cx="329184" cy="329184"/>
          </a:xfrm>
          <a:prstGeom prst="ellipse">
            <a:avLst/>
          </a:prstGeom>
          <a:solidFill>
            <a:schemeClr val="accent2"/>
          </a:solidFill>
          <a:ln w="12700">
            <a:solidFill>
              <a:schemeClr val="accent2"/>
            </a:solidFill>
            <a:prstDash val="solid"/>
          </a:ln>
        </p:spPr>
      </p:sp>
      <p:sp>
        <p:nvSpPr>
          <p:cNvPr id="25" name="HotspotAgent owner"/>
          <p:cNvSpPr txBox="1"/>
          <p:nvPr/>
        </p:nvSpPr>
        <p:spPr>
          <a:xfrm>
            <a:off x="6684264" y="112471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26" name="arrow 4"/>
          <p:cNvSpPr/>
          <p:nvPr/>
        </p:nvSpPr>
        <p:spPr>
          <a:xfrm>
            <a:off x="7004304" y="1760220"/>
            <a:ext cx="228600" cy="0"/>
          </a:xfrm>
          <a:prstGeom prst="line">
            <a:avLst/>
          </a:prstGeom>
          <a:noFill/>
          <a:ln w="25400">
            <a:solidFill>
              <a:schemeClr val="accent6"/>
            </a:solidFill>
            <a:prstDash val="solid"/>
            <a:tailEnd type="triangle"/>
          </a:ln>
        </p:spPr>
      </p:sp>
      <p:sp>
        <p:nvSpPr>
          <p:cNvPr id="27" name="AlertAgent box"/>
          <p:cNvSpPr/>
          <p:nvPr/>
        </p:nvSpPr>
        <p:spPr>
          <a:xfrm>
            <a:off x="7260336" y="1234440"/>
            <a:ext cx="1417320" cy="1051560"/>
          </a:xfrm>
          <a:prstGeom prst="roundRect">
            <a:avLst>
              <a:gd name="adj" fmla="val 6957"/>
            </a:avLst>
          </a:prstGeom>
          <a:solidFill>
            <a:schemeClr val="bg2"/>
          </a:solidFill>
          <a:ln w="12700">
            <a:solidFill>
              <a:schemeClr val="bg2"/>
            </a:solidFill>
            <a:prstDash val="solid"/>
          </a:ln>
        </p:spPr>
      </p:sp>
      <p:pic>
        <p:nvPicPr>
          <p:cNvPr id="28" name="AlertAgent icon" descr="preencoded.png">    </p:cNvPr>
          <p:cNvPicPr>
            <a:picLocks noChangeAspect="1"/>
          </p:cNvPicPr>
          <p:nvPr/>
        </p:nvPicPr>
        <p:blipFill>
          <a:blip r:embed="rId5"/>
          <a:stretch>
            <a:fillRect/>
          </a:stretch>
        </p:blipFill>
        <p:spPr>
          <a:xfrm>
            <a:off x="7767828" y="1371600"/>
            <a:ext cx="402336" cy="402336"/>
          </a:xfrm>
          <a:prstGeom prst="rect">
            <a:avLst/>
          </a:prstGeom>
        </p:spPr>
      </p:pic>
      <p:sp>
        <p:nvSpPr>
          <p:cNvPr id="29" name="AlertAgent label"/>
          <p:cNvSpPr txBox="1"/>
          <p:nvPr/>
        </p:nvSpPr>
        <p:spPr>
          <a:xfrm>
            <a:off x="7306056" y="1828800"/>
            <a:ext cx="1325880" cy="365760"/>
          </a:xfrm>
          <a:prstGeom prst="rect">
            <a:avLst/>
          </a:prstGeom>
          <a:noFill/>
          <a:ln/>
        </p:spPr>
        <p:txBody>
          <a:bodyPr wrap="square" lIns="0" tIns="0" rIns="0" bIns="0" rtlCol="0" anchor="ctr"/>
          <a:lstStyle/>
          <a:p>
            <a:pPr algn="ctr" indent="0" marL="0">
              <a:buNone/>
            </a:pPr>
            <a:r>
              <a:rPr lang="en-US" sz="1200" b="1" dirty="0">
                <a:solidFill>
                  <a:schemeClr val="tx2"/>
                </a:solidFill>
              </a:rPr>
              <a:t>AlertAgent</a:t>
            </a:r>
            <a:endParaRPr lang="en-US" sz="1200" dirty="0"/>
          </a:p>
        </p:txBody>
      </p:sp>
      <p:sp>
        <p:nvSpPr>
          <p:cNvPr id="30" name="AlertAgent owner badge"/>
          <p:cNvSpPr/>
          <p:nvPr/>
        </p:nvSpPr>
        <p:spPr>
          <a:xfrm>
            <a:off x="8385048" y="1124712"/>
            <a:ext cx="329184" cy="329184"/>
          </a:xfrm>
          <a:prstGeom prst="ellipse">
            <a:avLst/>
          </a:prstGeom>
          <a:solidFill>
            <a:schemeClr val="accent2"/>
          </a:solidFill>
          <a:ln w="12700">
            <a:solidFill>
              <a:schemeClr val="accent2"/>
            </a:solidFill>
            <a:prstDash val="solid"/>
          </a:ln>
        </p:spPr>
      </p:sp>
      <p:sp>
        <p:nvSpPr>
          <p:cNvPr id="31" name="AlertAgent owner"/>
          <p:cNvSpPr txBox="1"/>
          <p:nvPr/>
        </p:nvSpPr>
        <p:spPr>
          <a:xfrm>
            <a:off x="8385048" y="112471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32" name="villages box"/>
          <p:cNvSpPr/>
          <p:nvPr/>
        </p:nvSpPr>
        <p:spPr>
          <a:xfrm>
            <a:off x="2011680" y="3108960"/>
            <a:ext cx="2240280" cy="960120"/>
          </a:xfrm>
          <a:prstGeom prst="roundRect">
            <a:avLst>
              <a:gd name="adj" fmla="val 7619"/>
            </a:avLst>
          </a:prstGeom>
          <a:solidFill>
            <a:schemeClr val="bg2"/>
          </a:solidFill>
          <a:ln w="12700">
            <a:solidFill>
              <a:schemeClr val="bg2"/>
            </a:solidFill>
            <a:prstDash val="solid"/>
          </a:ln>
        </p:spPr>
      </p:sp>
      <p:pic>
        <p:nvPicPr>
          <p:cNvPr id="33" name="villages icon" descr="preencoded.png">    </p:cNvPr>
          <p:cNvPicPr>
            <a:picLocks noChangeAspect="1"/>
          </p:cNvPicPr>
          <p:nvPr/>
        </p:nvPicPr>
        <p:blipFill>
          <a:blip r:embed="rId6"/>
          <a:stretch>
            <a:fillRect/>
          </a:stretch>
        </p:blipFill>
        <p:spPr>
          <a:xfrm>
            <a:off x="2148840" y="3383280"/>
            <a:ext cx="411480" cy="411480"/>
          </a:xfrm>
          <a:prstGeom prst="rect">
            <a:avLst/>
          </a:prstGeom>
        </p:spPr>
      </p:pic>
      <p:sp>
        <p:nvSpPr>
          <p:cNvPr id="34" name="villages label"/>
          <p:cNvSpPr txBox="1"/>
          <p:nvPr/>
        </p:nvSpPr>
        <p:spPr>
          <a:xfrm>
            <a:off x="2651760" y="3246120"/>
            <a:ext cx="1508760" cy="685800"/>
          </a:xfrm>
          <a:prstGeom prst="rect">
            <a:avLst/>
          </a:prstGeom>
          <a:noFill/>
          <a:ln/>
        </p:spPr>
        <p:txBody>
          <a:bodyPr wrap="square" lIns="0" tIns="0" rIns="0" bIns="0" rtlCol="0" anchor="ctr"/>
          <a:lstStyle/>
          <a:p>
            <a:pPr indent="0" marL="0">
              <a:buNone/>
            </a:pPr>
            <a:r>
              <a:rPr lang="en-US" sz="1300" b="1" dirty="0">
                <a:solidFill>
                  <a:schemeClr val="tx2"/>
                </a:solidFill>
              </a:rPr>
              <a:t>VillageAgent × 11</a:t>
            </a:r>
            <a:endParaRPr lang="en-US" sz="1300" dirty="0"/>
          </a:p>
          <a:p>
            <a:pPr indent="0" marL="0">
              <a:buNone/>
            </a:pPr>
            <a:r>
              <a:rPr lang="en-US" sz="1100" dirty="0">
                <a:solidFill>
                  <a:schemeClr val="accent6"/>
                </a:solidFill>
              </a:rPr>
              <a:t>one per DS division</a:t>
            </a:r>
            <a:endParaRPr lang="en-US" sz="1300" dirty="0"/>
          </a:p>
        </p:txBody>
      </p:sp>
      <p:sp>
        <p:nvSpPr>
          <p:cNvPr id="35" name="coordinator box"/>
          <p:cNvSpPr/>
          <p:nvPr/>
        </p:nvSpPr>
        <p:spPr>
          <a:xfrm>
            <a:off x="5349240" y="3108960"/>
            <a:ext cx="2514600" cy="960120"/>
          </a:xfrm>
          <a:prstGeom prst="roundRect">
            <a:avLst>
              <a:gd name="adj" fmla="val 7619"/>
            </a:avLst>
          </a:prstGeom>
          <a:solidFill>
            <a:schemeClr val="bg2"/>
          </a:solidFill>
          <a:ln w="12700">
            <a:solidFill>
              <a:schemeClr val="bg2"/>
            </a:solidFill>
            <a:prstDash val="solid"/>
          </a:ln>
        </p:spPr>
      </p:sp>
      <p:pic>
        <p:nvPicPr>
          <p:cNvPr id="36" name="coordinator icon" descr="preencoded.png">    </p:cNvPr>
          <p:cNvPicPr>
            <a:picLocks noChangeAspect="1"/>
          </p:cNvPicPr>
          <p:nvPr/>
        </p:nvPicPr>
        <p:blipFill>
          <a:blip r:embed="rId7"/>
          <a:stretch>
            <a:fillRect/>
          </a:stretch>
        </p:blipFill>
        <p:spPr>
          <a:xfrm>
            <a:off x="5486400" y="3383280"/>
            <a:ext cx="411480" cy="411480"/>
          </a:xfrm>
          <a:prstGeom prst="rect">
            <a:avLst/>
          </a:prstGeom>
        </p:spPr>
      </p:pic>
      <p:sp>
        <p:nvSpPr>
          <p:cNvPr id="37" name="coordinator label"/>
          <p:cNvSpPr txBox="1"/>
          <p:nvPr/>
        </p:nvSpPr>
        <p:spPr>
          <a:xfrm>
            <a:off x="5989320" y="3246120"/>
            <a:ext cx="1783080" cy="685800"/>
          </a:xfrm>
          <a:prstGeom prst="rect">
            <a:avLst/>
          </a:prstGeom>
          <a:noFill/>
          <a:ln/>
        </p:spPr>
        <p:txBody>
          <a:bodyPr wrap="square" lIns="0" tIns="0" rIns="0" bIns="0" rtlCol="0" anchor="ctr"/>
          <a:lstStyle/>
          <a:p>
            <a:pPr indent="0" marL="0">
              <a:buNone/>
            </a:pPr>
            <a:r>
              <a:rPr lang="en-US" sz="1300" b="1" dirty="0">
                <a:solidFill>
                  <a:schemeClr val="tx2"/>
                </a:solidFill>
              </a:rPr>
              <a:t>ResourceCoordinator</a:t>
            </a:r>
            <a:endParaRPr lang="en-US" sz="1300" dirty="0"/>
          </a:p>
          <a:p>
            <a:pPr indent="0" marL="0">
              <a:buNone/>
            </a:pPr>
            <a:r>
              <a:rPr lang="en-US" sz="1100" dirty="0">
                <a:solidFill>
                  <a:schemeClr val="accent6"/>
                </a:solidFill>
              </a:rPr>
              <a:t>one per negotiation round</a:t>
            </a:r>
            <a:endParaRPr lang="en-US" sz="1300" dirty="0"/>
          </a:p>
        </p:txBody>
      </p:sp>
      <p:sp>
        <p:nvSpPr>
          <p:cNvPr id="38" name="row2 owner badge 0"/>
          <p:cNvSpPr/>
          <p:nvPr/>
        </p:nvSpPr>
        <p:spPr>
          <a:xfrm>
            <a:off x="3959352" y="2999232"/>
            <a:ext cx="329184" cy="329184"/>
          </a:xfrm>
          <a:prstGeom prst="ellipse">
            <a:avLst/>
          </a:prstGeom>
          <a:solidFill>
            <a:schemeClr val="accent2"/>
          </a:solidFill>
          <a:ln w="12700">
            <a:solidFill>
              <a:schemeClr val="accent2"/>
            </a:solidFill>
            <a:prstDash val="solid"/>
          </a:ln>
        </p:spPr>
      </p:sp>
      <p:sp>
        <p:nvSpPr>
          <p:cNvPr id="39" name="row2 owner 0"/>
          <p:cNvSpPr txBox="1"/>
          <p:nvPr/>
        </p:nvSpPr>
        <p:spPr>
          <a:xfrm>
            <a:off x="3959352" y="299923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40" name="row2 owner badge 1"/>
          <p:cNvSpPr/>
          <p:nvPr/>
        </p:nvSpPr>
        <p:spPr>
          <a:xfrm>
            <a:off x="7571232" y="2999232"/>
            <a:ext cx="329184" cy="329184"/>
          </a:xfrm>
          <a:prstGeom prst="ellipse">
            <a:avLst/>
          </a:prstGeom>
          <a:solidFill>
            <a:schemeClr val="accent2"/>
          </a:solidFill>
          <a:ln w="12700">
            <a:solidFill>
              <a:schemeClr val="accent2"/>
            </a:solidFill>
            <a:prstDash val="solid"/>
          </a:ln>
        </p:spPr>
      </p:sp>
      <p:sp>
        <p:nvSpPr>
          <p:cNvPr id="41" name="row2 owner 1"/>
          <p:cNvSpPr txBox="1"/>
          <p:nvPr/>
        </p:nvSpPr>
        <p:spPr>
          <a:xfrm>
            <a:off x="7571232" y="299923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42" name="risk to villages arrow"/>
          <p:cNvSpPr/>
          <p:nvPr/>
        </p:nvSpPr>
        <p:spPr>
          <a:xfrm flipH="1">
            <a:off x="3131820" y="2331720"/>
            <a:ext cx="1435608" cy="731520"/>
          </a:xfrm>
          <a:prstGeom prst="line">
            <a:avLst/>
          </a:prstGeom>
          <a:noFill/>
          <a:ln w="25400">
            <a:solidFill>
              <a:schemeClr val="accent6"/>
            </a:solidFill>
            <a:prstDash val="solid"/>
            <a:tailEnd type="triangle"/>
          </a:ln>
        </p:spPr>
      </p:sp>
      <p:sp>
        <p:nvSpPr>
          <p:cNvPr id="43" name="risk_record label"/>
          <p:cNvSpPr txBox="1"/>
          <p:nvPr/>
        </p:nvSpPr>
        <p:spPr>
          <a:xfrm>
            <a:off x="4160520" y="2487168"/>
            <a:ext cx="1005840" cy="256032"/>
          </a:xfrm>
          <a:prstGeom prst="rect">
            <a:avLst/>
          </a:prstGeom>
          <a:noFill/>
          <a:ln/>
        </p:spPr>
        <p:txBody>
          <a:bodyPr wrap="square" lIns="0" tIns="0" rIns="0" bIns="0" rtlCol="0" anchor="ctr"/>
          <a:lstStyle/>
          <a:p>
            <a:pPr indent="0" marL="0">
              <a:buNone/>
            </a:pPr>
            <a:r>
              <a:rPr lang="en-US" sz="1100" i="1" dirty="0">
                <a:solidFill>
                  <a:schemeClr val="accent6"/>
                </a:solidFill>
              </a:rPr>
              <a:t>risk_record</a:t>
            </a:r>
            <a:endParaRPr lang="en-US" sz="1100" dirty="0"/>
          </a:p>
        </p:txBody>
      </p:sp>
      <p:sp>
        <p:nvSpPr>
          <p:cNvPr id="44" name="contract net arrow"/>
          <p:cNvSpPr/>
          <p:nvPr/>
        </p:nvSpPr>
        <p:spPr>
          <a:xfrm>
            <a:off x="4297680" y="3589020"/>
            <a:ext cx="1005840" cy="0"/>
          </a:xfrm>
          <a:prstGeom prst="line">
            <a:avLst/>
          </a:prstGeom>
          <a:noFill/>
          <a:ln w="31750">
            <a:solidFill>
              <a:schemeClr val="accent2"/>
            </a:solidFill>
            <a:prstDash val="solid"/>
            <a:headEnd type="triangle"/>
            <a:tailEnd type="triangle"/>
          </a:ln>
        </p:spPr>
      </p:sp>
      <p:sp>
        <p:nvSpPr>
          <p:cNvPr id="45" name="contract net label"/>
          <p:cNvSpPr txBox="1"/>
          <p:nvPr/>
        </p:nvSpPr>
        <p:spPr>
          <a:xfrm>
            <a:off x="4297680" y="3680460"/>
            <a:ext cx="1005840" cy="274320"/>
          </a:xfrm>
          <a:prstGeom prst="rect">
            <a:avLst/>
          </a:prstGeom>
          <a:noFill/>
          <a:ln/>
        </p:spPr>
        <p:txBody>
          <a:bodyPr wrap="square" lIns="0" tIns="0" rIns="0" bIns="0" rtlCol="0" anchor="ctr"/>
          <a:lstStyle/>
          <a:p>
            <a:pPr algn="ctr" indent="0" marL="0">
              <a:buNone/>
            </a:pPr>
            <a:r>
              <a:rPr lang="en-US" sz="1000" b="1" dirty="0">
                <a:solidFill>
                  <a:schemeClr val="accent2"/>
                </a:solidFill>
              </a:rPr>
              <a:t>Contract Net</a:t>
            </a:r>
            <a:endParaRPr lang="en-US" sz="1000" dirty="0"/>
          </a:p>
        </p:txBody>
      </p:sp>
      <p:sp>
        <p:nvSpPr>
          <p:cNvPr id="46" name="architecture caption"/>
          <p:cNvSpPr txBox="1"/>
          <p:nvPr/>
        </p:nvSpPr>
        <p:spPr>
          <a:xfrm>
            <a:off x="457200" y="4279392"/>
            <a:ext cx="8229600" cy="320040"/>
          </a:xfrm>
          <a:prstGeom prst="rect">
            <a:avLst/>
          </a:prstGeom>
          <a:noFill/>
          <a:ln/>
        </p:spPr>
        <p:txBody>
          <a:bodyPr wrap="square" lIns="0" tIns="0" rIns="0" bIns="0" rtlCol="0" anchor="ctr"/>
          <a:lstStyle/>
          <a:p>
            <a:pPr algn="ctr" indent="0" marL="0">
              <a:buNone/>
            </a:pPr>
            <a:r>
              <a:rPr lang="en-US" sz="1200" i="1" dirty="0">
                <a:solidFill>
                  <a:schemeClr val="accent6"/>
                </a:solidFill>
              </a:rPr>
              <a:t>Every arrow is a logged SPADE message: timestamp, sender, receiver, performative, thread</a:t>
            </a:r>
            <a:endParaRPr lang="en-US" sz="12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One simulated month</a:t>
            </a:r>
            <a:endParaRPr lang="en-US" sz="3600" dirty="0"/>
          </a:p>
        </p:txBody>
      </p:sp>
      <p:sp>
        <p:nvSpPr>
          <p:cNvPr id="3" name="timeline line"/>
          <p:cNvSpPr/>
          <p:nvPr/>
        </p:nvSpPr>
        <p:spPr>
          <a:xfrm>
            <a:off x="845820" y="1668780"/>
            <a:ext cx="7242048" cy="0"/>
          </a:xfrm>
          <a:prstGeom prst="line">
            <a:avLst/>
          </a:prstGeom>
          <a:noFill/>
          <a:ln w="19050">
            <a:solidFill>
              <a:schemeClr val="accent6"/>
            </a:solidFill>
            <a:prstDash val="solid"/>
          </a:ln>
        </p:spPr>
      </p:sp>
      <p:sp>
        <p:nvSpPr>
          <p:cNvPr id="4" name="step 1 circle"/>
          <p:cNvSpPr/>
          <p:nvPr/>
        </p:nvSpPr>
        <p:spPr>
          <a:xfrm>
            <a:off x="502920" y="1325880"/>
            <a:ext cx="685800" cy="685800"/>
          </a:xfrm>
          <a:prstGeom prst="ellipse">
            <a:avLst/>
          </a:prstGeom>
          <a:solidFill>
            <a:schemeClr val="tx2"/>
          </a:solidFill>
          <a:ln w="12700">
            <a:solidFill>
              <a:schemeClr val="tx2"/>
            </a:solidFill>
            <a:prstDash val="solid"/>
          </a:ln>
        </p:spPr>
      </p:sp>
      <p:pic>
        <p:nvPicPr>
          <p:cNvPr id="5" name="step 1 icon" descr="preencoded.png">    </p:cNvPr>
          <p:cNvPicPr>
            <a:picLocks noChangeAspect="1"/>
          </p:cNvPicPr>
          <p:nvPr/>
        </p:nvPicPr>
        <p:blipFill>
          <a:blip r:embed="rId1"/>
          <a:stretch>
            <a:fillRect/>
          </a:stretch>
        </p:blipFill>
        <p:spPr>
          <a:xfrm>
            <a:off x="688086" y="1511046"/>
            <a:ext cx="315468" cy="315468"/>
          </a:xfrm>
          <a:prstGeom prst="rect">
            <a:avLst/>
          </a:prstGeom>
        </p:spPr>
      </p:pic>
      <p:sp>
        <p:nvSpPr>
          <p:cNvPr id="6" name="step 1 label"/>
          <p:cNvSpPr txBox="1"/>
          <p:nvPr/>
        </p:nvSpPr>
        <p:spPr>
          <a:xfrm>
            <a:off x="274320" y="2121408"/>
            <a:ext cx="1143000" cy="777240"/>
          </a:xfrm>
          <a:prstGeom prst="rect">
            <a:avLst/>
          </a:prstGeom>
          <a:noFill/>
          <a:ln/>
        </p:spPr>
        <p:txBody>
          <a:bodyPr wrap="square" lIns="0" tIns="0" rIns="0" bIns="0" rtlCol="0" anchor="t"/>
          <a:lstStyle/>
          <a:p>
            <a:pPr algn="ctr" indent="0" marL="0">
              <a:buNone/>
            </a:pPr>
            <a:r>
              <a:rPr lang="en-US" sz="1200" b="1" dirty="0">
                <a:solidFill>
                  <a:schemeClr val="accent2"/>
                </a:solidFill>
              </a:rPr>
              <a:t>1</a:t>
            </a:r>
            <a:endParaRPr lang="en-US" sz="1200" dirty="0"/>
          </a:p>
          <a:p>
            <a:pPr algn="ctr" indent="0" marL="0">
              <a:buNone/>
            </a:pPr>
            <a:r>
              <a:rPr lang="en-US" sz="1200" dirty="0">
                <a:solidFill>
                  <a:schemeClr val="tx1"/>
                </a:solidFill>
              </a:rPr>
              <a:t>Clock: new month</a:t>
            </a:r>
            <a:endParaRPr lang="en-US" sz="1200" dirty="0"/>
          </a:p>
        </p:txBody>
      </p:sp>
      <p:sp>
        <p:nvSpPr>
          <p:cNvPr id="7" name="step 2 circle"/>
          <p:cNvSpPr/>
          <p:nvPr/>
        </p:nvSpPr>
        <p:spPr>
          <a:xfrm>
            <a:off x="1709928" y="1325880"/>
            <a:ext cx="685800" cy="685800"/>
          </a:xfrm>
          <a:prstGeom prst="ellipse">
            <a:avLst/>
          </a:prstGeom>
          <a:solidFill>
            <a:schemeClr val="tx2"/>
          </a:solidFill>
          <a:ln w="12700">
            <a:solidFill>
              <a:schemeClr val="tx2"/>
            </a:solidFill>
            <a:prstDash val="solid"/>
          </a:ln>
        </p:spPr>
      </p:sp>
      <p:pic>
        <p:nvPicPr>
          <p:cNvPr id="8" name="step 2 icon" descr="preencoded.png">    </p:cNvPr>
          <p:cNvPicPr>
            <a:picLocks noChangeAspect="1"/>
          </p:cNvPicPr>
          <p:nvPr/>
        </p:nvPicPr>
        <p:blipFill>
          <a:blip r:embed="rId2"/>
          <a:stretch>
            <a:fillRect/>
          </a:stretch>
        </p:blipFill>
        <p:spPr>
          <a:xfrm>
            <a:off x="1895094" y="1511046"/>
            <a:ext cx="315468" cy="315468"/>
          </a:xfrm>
          <a:prstGeom prst="rect">
            <a:avLst/>
          </a:prstGeom>
        </p:spPr>
      </p:pic>
      <p:sp>
        <p:nvSpPr>
          <p:cNvPr id="9" name="step 2 label"/>
          <p:cNvSpPr txBox="1"/>
          <p:nvPr/>
        </p:nvSpPr>
        <p:spPr>
          <a:xfrm>
            <a:off x="1481328" y="2121408"/>
            <a:ext cx="1143000" cy="777240"/>
          </a:xfrm>
          <a:prstGeom prst="rect">
            <a:avLst/>
          </a:prstGeom>
          <a:noFill/>
          <a:ln/>
        </p:spPr>
        <p:txBody>
          <a:bodyPr wrap="square" lIns="0" tIns="0" rIns="0" bIns="0" rtlCol="0" anchor="t"/>
          <a:lstStyle/>
          <a:p>
            <a:pPr algn="ctr" indent="0" marL="0">
              <a:buNone/>
            </a:pPr>
            <a:r>
              <a:rPr lang="en-US" sz="1200" b="1" dirty="0">
                <a:solidFill>
                  <a:schemeClr val="accent2"/>
                </a:solidFill>
              </a:rPr>
              <a:t>2</a:t>
            </a:r>
            <a:endParaRPr lang="en-US" sz="1200" dirty="0"/>
          </a:p>
          <a:p>
            <a:pPr algn="ctr" indent="0" marL="0">
              <a:buNone/>
            </a:pPr>
            <a:r>
              <a:rPr lang="en-US" sz="1200" dirty="0">
                <a:solidFill>
                  <a:schemeClr val="tx1"/>
                </a:solidFill>
              </a:rPr>
              <a:t>20 readings per village</a:t>
            </a:r>
            <a:endParaRPr lang="en-US" sz="1200" dirty="0"/>
          </a:p>
        </p:txBody>
      </p:sp>
      <p:sp>
        <p:nvSpPr>
          <p:cNvPr id="10" name="step 3 circle"/>
          <p:cNvSpPr/>
          <p:nvPr/>
        </p:nvSpPr>
        <p:spPr>
          <a:xfrm>
            <a:off x="2916936" y="1325880"/>
            <a:ext cx="685800" cy="685800"/>
          </a:xfrm>
          <a:prstGeom prst="ellipse">
            <a:avLst/>
          </a:prstGeom>
          <a:solidFill>
            <a:schemeClr val="tx2"/>
          </a:solidFill>
          <a:ln w="12700">
            <a:solidFill>
              <a:schemeClr val="tx2"/>
            </a:solidFill>
            <a:prstDash val="solid"/>
          </a:ln>
        </p:spPr>
      </p:sp>
      <p:pic>
        <p:nvPicPr>
          <p:cNvPr id="11" name="step 3 icon" descr="preencoded.png">    </p:cNvPr>
          <p:cNvPicPr>
            <a:picLocks noChangeAspect="1"/>
          </p:cNvPicPr>
          <p:nvPr/>
        </p:nvPicPr>
        <p:blipFill>
          <a:blip r:embed="rId3"/>
          <a:stretch>
            <a:fillRect/>
          </a:stretch>
        </p:blipFill>
        <p:spPr>
          <a:xfrm>
            <a:off x="3102102" y="1511046"/>
            <a:ext cx="315468" cy="315468"/>
          </a:xfrm>
          <a:prstGeom prst="rect">
            <a:avLst/>
          </a:prstGeom>
        </p:spPr>
      </p:pic>
      <p:sp>
        <p:nvSpPr>
          <p:cNvPr id="12" name="step 3 label"/>
          <p:cNvSpPr txBox="1"/>
          <p:nvPr/>
        </p:nvSpPr>
        <p:spPr>
          <a:xfrm>
            <a:off x="2688336" y="2121408"/>
            <a:ext cx="1143000" cy="777240"/>
          </a:xfrm>
          <a:prstGeom prst="rect">
            <a:avLst/>
          </a:prstGeom>
          <a:noFill/>
          <a:ln/>
        </p:spPr>
        <p:txBody>
          <a:bodyPr wrap="square" lIns="0" tIns="0" rIns="0" bIns="0" rtlCol="0" anchor="t"/>
          <a:lstStyle/>
          <a:p>
            <a:pPr algn="ctr" indent="0" marL="0">
              <a:buNone/>
            </a:pPr>
            <a:r>
              <a:rPr lang="en-US" sz="1200" b="1" dirty="0">
                <a:solidFill>
                  <a:schemeClr val="accent2"/>
                </a:solidFill>
              </a:rPr>
              <a:t>3</a:t>
            </a:r>
            <a:endParaRPr lang="en-US" sz="1200" dirty="0"/>
          </a:p>
          <a:p>
            <a:pPr algn="ctr" indent="0" marL="0">
              <a:buNone/>
            </a:pPr>
            <a:r>
              <a:rPr lang="en-US" sz="1200" dirty="0">
                <a:solidFill>
                  <a:schemeClr val="tx1"/>
                </a:solidFill>
              </a:rPr>
              <a:t>WQI score and tier</a:t>
            </a:r>
            <a:endParaRPr lang="en-US" sz="1200" dirty="0"/>
          </a:p>
        </p:txBody>
      </p:sp>
      <p:sp>
        <p:nvSpPr>
          <p:cNvPr id="13" name="step 4 circle"/>
          <p:cNvSpPr/>
          <p:nvPr/>
        </p:nvSpPr>
        <p:spPr>
          <a:xfrm>
            <a:off x="4123944" y="1325880"/>
            <a:ext cx="685800" cy="685800"/>
          </a:xfrm>
          <a:prstGeom prst="ellipse">
            <a:avLst/>
          </a:prstGeom>
          <a:solidFill>
            <a:schemeClr val="tx2"/>
          </a:solidFill>
          <a:ln w="12700">
            <a:solidFill>
              <a:schemeClr val="tx2"/>
            </a:solidFill>
            <a:prstDash val="solid"/>
          </a:ln>
        </p:spPr>
      </p:sp>
      <p:pic>
        <p:nvPicPr>
          <p:cNvPr id="14" name="step 4 icon" descr="preencoded.png">    </p:cNvPr>
          <p:cNvPicPr>
            <a:picLocks noChangeAspect="1"/>
          </p:cNvPicPr>
          <p:nvPr/>
        </p:nvPicPr>
        <p:blipFill>
          <a:blip r:embed="rId4"/>
          <a:stretch>
            <a:fillRect/>
          </a:stretch>
        </p:blipFill>
        <p:spPr>
          <a:xfrm>
            <a:off x="4309110" y="1511046"/>
            <a:ext cx="315468" cy="315468"/>
          </a:xfrm>
          <a:prstGeom prst="rect">
            <a:avLst/>
          </a:prstGeom>
        </p:spPr>
      </p:pic>
      <p:sp>
        <p:nvSpPr>
          <p:cNvPr id="15" name="step 4 label"/>
          <p:cNvSpPr txBox="1"/>
          <p:nvPr/>
        </p:nvSpPr>
        <p:spPr>
          <a:xfrm>
            <a:off x="3895344" y="2121408"/>
            <a:ext cx="1143000" cy="777240"/>
          </a:xfrm>
          <a:prstGeom prst="rect">
            <a:avLst/>
          </a:prstGeom>
          <a:noFill/>
          <a:ln/>
        </p:spPr>
        <p:txBody>
          <a:bodyPr wrap="square" lIns="0" tIns="0" rIns="0" bIns="0" rtlCol="0" anchor="t"/>
          <a:lstStyle/>
          <a:p>
            <a:pPr algn="ctr" indent="0" marL="0">
              <a:buNone/>
            </a:pPr>
            <a:r>
              <a:rPr lang="en-US" sz="1200" b="1" dirty="0">
                <a:solidFill>
                  <a:schemeClr val="accent2"/>
                </a:solidFill>
              </a:rPr>
              <a:t>4</a:t>
            </a:r>
            <a:endParaRPr lang="en-US" sz="1200" dirty="0"/>
          </a:p>
          <a:p>
            <a:pPr algn="ctr" indent="0" marL="0">
              <a:buNone/>
            </a:pPr>
            <a:r>
              <a:rPr lang="en-US" sz="1200" dirty="0">
                <a:solidFill>
                  <a:schemeClr val="tx1"/>
                </a:solidFill>
              </a:rPr>
              <a:t>Hotspot check</a:t>
            </a:r>
            <a:endParaRPr lang="en-US" sz="1200" dirty="0"/>
          </a:p>
        </p:txBody>
      </p:sp>
      <p:sp>
        <p:nvSpPr>
          <p:cNvPr id="16" name="step 5 circle"/>
          <p:cNvSpPr/>
          <p:nvPr/>
        </p:nvSpPr>
        <p:spPr>
          <a:xfrm>
            <a:off x="5330952" y="1325880"/>
            <a:ext cx="685800" cy="685800"/>
          </a:xfrm>
          <a:prstGeom prst="ellipse">
            <a:avLst/>
          </a:prstGeom>
          <a:solidFill>
            <a:schemeClr val="tx2"/>
          </a:solidFill>
          <a:ln w="12700">
            <a:solidFill>
              <a:schemeClr val="tx2"/>
            </a:solidFill>
            <a:prstDash val="solid"/>
          </a:ln>
        </p:spPr>
      </p:sp>
      <p:pic>
        <p:nvPicPr>
          <p:cNvPr id="17" name="step 5 icon" descr="preencoded.png">    </p:cNvPr>
          <p:cNvPicPr>
            <a:picLocks noChangeAspect="1"/>
          </p:cNvPicPr>
          <p:nvPr/>
        </p:nvPicPr>
        <p:blipFill>
          <a:blip r:embed="rId5"/>
          <a:stretch>
            <a:fillRect/>
          </a:stretch>
        </p:blipFill>
        <p:spPr>
          <a:xfrm>
            <a:off x="5516118" y="1511046"/>
            <a:ext cx="315468" cy="315468"/>
          </a:xfrm>
          <a:prstGeom prst="rect">
            <a:avLst/>
          </a:prstGeom>
        </p:spPr>
      </p:pic>
      <p:sp>
        <p:nvSpPr>
          <p:cNvPr id="18" name="step 5 label"/>
          <p:cNvSpPr txBox="1"/>
          <p:nvPr/>
        </p:nvSpPr>
        <p:spPr>
          <a:xfrm>
            <a:off x="5102352" y="2121408"/>
            <a:ext cx="1143000" cy="777240"/>
          </a:xfrm>
          <a:prstGeom prst="rect">
            <a:avLst/>
          </a:prstGeom>
          <a:noFill/>
          <a:ln/>
        </p:spPr>
        <p:txBody>
          <a:bodyPr wrap="square" lIns="0" tIns="0" rIns="0" bIns="0" rtlCol="0" anchor="t"/>
          <a:lstStyle/>
          <a:p>
            <a:pPr algn="ctr" indent="0" marL="0">
              <a:buNone/>
            </a:pPr>
            <a:r>
              <a:rPr lang="en-US" sz="1200" b="1" dirty="0">
                <a:solidFill>
                  <a:schemeClr val="accent2"/>
                </a:solidFill>
              </a:rPr>
              <a:t>5</a:t>
            </a:r>
            <a:endParaRPr lang="en-US" sz="1200" dirty="0"/>
          </a:p>
          <a:p>
            <a:pPr algn="ctr" indent="0" marL="0">
              <a:buNone/>
            </a:pPr>
            <a:r>
              <a:rPr lang="en-US" sz="1200" dirty="0">
                <a:solidFill>
                  <a:schemeClr val="tx1"/>
                </a:solidFill>
              </a:rPr>
              <a:t>Calm alert if risky</a:t>
            </a:r>
            <a:endParaRPr lang="en-US" sz="1200" dirty="0"/>
          </a:p>
        </p:txBody>
      </p:sp>
      <p:sp>
        <p:nvSpPr>
          <p:cNvPr id="19" name="step 6 circle"/>
          <p:cNvSpPr/>
          <p:nvPr/>
        </p:nvSpPr>
        <p:spPr>
          <a:xfrm>
            <a:off x="6537960" y="1325880"/>
            <a:ext cx="685800" cy="685800"/>
          </a:xfrm>
          <a:prstGeom prst="ellipse">
            <a:avLst/>
          </a:prstGeom>
          <a:solidFill>
            <a:schemeClr val="accent2"/>
          </a:solidFill>
          <a:ln w="12700">
            <a:solidFill>
              <a:schemeClr val="accent2"/>
            </a:solidFill>
            <a:prstDash val="solid"/>
          </a:ln>
        </p:spPr>
      </p:sp>
      <p:pic>
        <p:nvPicPr>
          <p:cNvPr id="20" name="step 6 icon" descr="preencoded.png">    </p:cNvPr>
          <p:cNvPicPr>
            <a:picLocks noChangeAspect="1"/>
          </p:cNvPicPr>
          <p:nvPr/>
        </p:nvPicPr>
        <p:blipFill>
          <a:blip r:embed="rId6"/>
          <a:stretch>
            <a:fillRect/>
          </a:stretch>
        </p:blipFill>
        <p:spPr>
          <a:xfrm>
            <a:off x="6723126" y="1511046"/>
            <a:ext cx="315468" cy="315468"/>
          </a:xfrm>
          <a:prstGeom prst="rect">
            <a:avLst/>
          </a:prstGeom>
        </p:spPr>
      </p:pic>
      <p:sp>
        <p:nvSpPr>
          <p:cNvPr id="21" name="step 6 label"/>
          <p:cNvSpPr txBox="1"/>
          <p:nvPr/>
        </p:nvSpPr>
        <p:spPr>
          <a:xfrm>
            <a:off x="6309360" y="2121408"/>
            <a:ext cx="1143000" cy="777240"/>
          </a:xfrm>
          <a:prstGeom prst="rect">
            <a:avLst/>
          </a:prstGeom>
          <a:noFill/>
          <a:ln/>
        </p:spPr>
        <p:txBody>
          <a:bodyPr wrap="square" lIns="0" tIns="0" rIns="0" bIns="0" rtlCol="0" anchor="t"/>
          <a:lstStyle/>
          <a:p>
            <a:pPr algn="ctr" indent="0" marL="0">
              <a:buNone/>
            </a:pPr>
            <a:r>
              <a:rPr lang="en-US" sz="1200" b="1" dirty="0">
                <a:solidFill>
                  <a:schemeClr val="accent2"/>
                </a:solidFill>
              </a:rPr>
              <a:t>6</a:t>
            </a:r>
            <a:endParaRPr lang="en-US" sz="1200" dirty="0"/>
          </a:p>
          <a:p>
            <a:pPr algn="ctr" indent="0" marL="0">
              <a:buNone/>
            </a:pPr>
            <a:r>
              <a:rPr lang="en-US" sz="1200" dirty="0">
                <a:solidFill>
                  <a:schemeClr val="tx1"/>
                </a:solidFill>
              </a:rPr>
              <a:t>Negotiate RO units</a:t>
            </a:r>
            <a:endParaRPr lang="en-US" sz="1200" dirty="0"/>
          </a:p>
        </p:txBody>
      </p:sp>
      <p:sp>
        <p:nvSpPr>
          <p:cNvPr id="22" name="step 7 circle"/>
          <p:cNvSpPr/>
          <p:nvPr/>
        </p:nvSpPr>
        <p:spPr>
          <a:xfrm>
            <a:off x="7744968" y="1325880"/>
            <a:ext cx="685800" cy="685800"/>
          </a:xfrm>
          <a:prstGeom prst="ellipse">
            <a:avLst/>
          </a:prstGeom>
          <a:solidFill>
            <a:schemeClr val="tx2"/>
          </a:solidFill>
          <a:ln w="12700">
            <a:solidFill>
              <a:schemeClr val="tx2"/>
            </a:solidFill>
            <a:prstDash val="solid"/>
          </a:ln>
        </p:spPr>
      </p:sp>
      <p:pic>
        <p:nvPicPr>
          <p:cNvPr id="23" name="step 7 icon" descr="preencoded.png">    </p:cNvPr>
          <p:cNvPicPr>
            <a:picLocks noChangeAspect="1"/>
          </p:cNvPicPr>
          <p:nvPr/>
        </p:nvPicPr>
        <p:blipFill>
          <a:blip r:embed="rId7"/>
          <a:stretch>
            <a:fillRect/>
          </a:stretch>
        </p:blipFill>
        <p:spPr>
          <a:xfrm>
            <a:off x="7930134" y="1511046"/>
            <a:ext cx="315468" cy="315468"/>
          </a:xfrm>
          <a:prstGeom prst="rect">
            <a:avLst/>
          </a:prstGeom>
        </p:spPr>
      </p:pic>
      <p:sp>
        <p:nvSpPr>
          <p:cNvPr id="24" name="step 7 label"/>
          <p:cNvSpPr txBox="1"/>
          <p:nvPr/>
        </p:nvSpPr>
        <p:spPr>
          <a:xfrm>
            <a:off x="7516368" y="2121408"/>
            <a:ext cx="1143000" cy="777240"/>
          </a:xfrm>
          <a:prstGeom prst="rect">
            <a:avLst/>
          </a:prstGeom>
          <a:noFill/>
          <a:ln/>
        </p:spPr>
        <p:txBody>
          <a:bodyPr wrap="square" lIns="0" tIns="0" rIns="0" bIns="0" rtlCol="0" anchor="t"/>
          <a:lstStyle/>
          <a:p>
            <a:pPr algn="ctr" indent="0" marL="0">
              <a:buNone/>
            </a:pPr>
            <a:r>
              <a:rPr lang="en-US" sz="1200" b="1" dirty="0">
                <a:solidFill>
                  <a:schemeClr val="accent2"/>
                </a:solidFill>
              </a:rPr>
              <a:t>7</a:t>
            </a:r>
            <a:endParaRPr lang="en-US" sz="1200" dirty="0"/>
          </a:p>
          <a:p>
            <a:pPr algn="ctr" indent="0" marL="0">
              <a:buNone/>
            </a:pPr>
            <a:r>
              <a:rPr lang="en-US" sz="1200" dirty="0">
                <a:solidFill>
                  <a:schemeClr val="tx1"/>
                </a:solidFill>
              </a:rPr>
              <a:t>Every message logged</a:t>
            </a:r>
            <a:endParaRPr lang="en-US" sz="1200" dirty="0"/>
          </a:p>
        </p:txBody>
      </p:sp>
      <p:sp>
        <p:nvSpPr>
          <p:cNvPr id="25" name="example box"/>
          <p:cNvSpPr/>
          <p:nvPr/>
        </p:nvSpPr>
        <p:spPr>
          <a:xfrm>
            <a:off x="457200" y="3154680"/>
            <a:ext cx="8229600" cy="1325880"/>
          </a:xfrm>
          <a:prstGeom prst="roundRect">
            <a:avLst>
              <a:gd name="adj" fmla="val 5517"/>
            </a:avLst>
          </a:prstGeom>
          <a:solidFill>
            <a:schemeClr val="bg2"/>
          </a:solidFill>
          <a:ln w="12700">
            <a:solidFill>
              <a:schemeClr val="bg2"/>
            </a:solidFill>
            <a:prstDash val="solid"/>
          </a:ln>
        </p:spPr>
      </p:sp>
      <p:sp>
        <p:nvSpPr>
          <p:cNvPr id="26" name="example text"/>
          <p:cNvSpPr txBox="1"/>
          <p:nvPr/>
        </p:nvSpPr>
        <p:spPr>
          <a:xfrm>
            <a:off x="685800" y="3246120"/>
            <a:ext cx="7772400" cy="1143000"/>
          </a:xfrm>
          <a:prstGeom prst="rect">
            <a:avLst/>
          </a:prstGeom>
          <a:noFill/>
          <a:ln/>
        </p:spPr>
        <p:txBody>
          <a:bodyPr wrap="square" lIns="0" tIns="0" rIns="0" bIns="0" rtlCol="0" anchor="ctr"/>
          <a:lstStyle/>
          <a:p>
            <a:pPr indent="0" marL="0">
              <a:spcAft>
                <a:spcPts val="600"/>
              </a:spcAft>
              <a:buNone/>
            </a:pPr>
            <a:r>
              <a:rPr lang="en-US" sz="1500" b="1" dirty="0">
                <a:solidFill>
                  <a:schemeClr val="tx2"/>
                </a:solidFill>
              </a:rPr>
              <a:t>Example: month 0 (October, Wet season)</a:t>
            </a:r>
            <a:endParaRPr lang="en-US" sz="1500" dirty="0"/>
          </a:p>
          <a:p>
            <a:pPr indent="0" marL="0">
              <a:spcAft>
                <a:spcPts val="600"/>
              </a:spcAft>
              <a:buNone/>
            </a:pPr>
            <a:r>
              <a:rPr lang="en-US" sz="1400" dirty="0">
                <a:solidFill>
                  <a:schemeClr val="tx1"/>
                </a:solidFill>
              </a:rPr>
              <a:t>4 villages score Poor  →  3 RO units are negotiated  →  Talawa wins but cannot take delivery (simulated)  →  the unit is re-offered in round 2 and Padaviya receives it</a:t>
            </a:r>
            <a:endParaRPr lang="en-US" sz="15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Data: real and synthetic</a:t>
            </a:r>
            <a:endParaRPr lang="en-US" sz="3600" dirty="0"/>
          </a:p>
        </p:txBody>
      </p:sp>
      <p:sp>
        <p:nvSpPr>
          <p:cNvPr id="3" name="real column"/>
          <p:cNvSpPr/>
          <p:nvPr/>
        </p:nvSpPr>
        <p:spPr>
          <a:xfrm>
            <a:off x="457200" y="1188720"/>
            <a:ext cx="3977640" cy="3337560"/>
          </a:xfrm>
          <a:prstGeom prst="roundRect">
            <a:avLst>
              <a:gd name="adj" fmla="val 2192"/>
            </a:avLst>
          </a:prstGeom>
          <a:solidFill>
            <a:schemeClr val="bg2"/>
          </a:solidFill>
          <a:ln w="12700">
            <a:solidFill>
              <a:schemeClr val="bg2"/>
            </a:solidFill>
            <a:prstDash val="solid"/>
          </a:ln>
        </p:spPr>
      </p:sp>
      <p:sp>
        <p:nvSpPr>
          <p:cNvPr id="4" name="real column circle"/>
          <p:cNvSpPr/>
          <p:nvPr/>
        </p:nvSpPr>
        <p:spPr>
          <a:xfrm>
            <a:off x="685800" y="1353312"/>
            <a:ext cx="548640" cy="548640"/>
          </a:xfrm>
          <a:prstGeom prst="ellipse">
            <a:avLst/>
          </a:prstGeom>
          <a:solidFill>
            <a:schemeClr val="tx2"/>
          </a:solidFill>
          <a:ln w="12700">
            <a:solidFill>
              <a:schemeClr val="tx2"/>
            </a:solidFill>
            <a:prstDash val="solid"/>
          </a:ln>
        </p:spPr>
      </p:sp>
      <p:pic>
        <p:nvPicPr>
          <p:cNvPr id="5" name="real column icon" descr="preencoded.png">    </p:cNvPr>
          <p:cNvPicPr>
            <a:picLocks noChangeAspect="1"/>
          </p:cNvPicPr>
          <p:nvPr/>
        </p:nvPicPr>
        <p:blipFill>
          <a:blip r:embed="rId1"/>
          <a:stretch>
            <a:fillRect/>
          </a:stretch>
        </p:blipFill>
        <p:spPr>
          <a:xfrm>
            <a:off x="833933" y="1501445"/>
            <a:ext cx="252374" cy="252374"/>
          </a:xfrm>
          <a:prstGeom prst="rect">
            <a:avLst/>
          </a:prstGeom>
        </p:spPr>
      </p:pic>
      <p:sp>
        <p:nvSpPr>
          <p:cNvPr id="6" name="real column head"/>
          <p:cNvSpPr txBox="1"/>
          <p:nvPr/>
        </p:nvSpPr>
        <p:spPr>
          <a:xfrm>
            <a:off x="1371600" y="1353312"/>
            <a:ext cx="2926080" cy="548640"/>
          </a:xfrm>
          <a:prstGeom prst="rect">
            <a:avLst/>
          </a:prstGeom>
          <a:noFill/>
          <a:ln/>
        </p:spPr>
        <p:txBody>
          <a:bodyPr wrap="square" lIns="0" tIns="0" rIns="0" bIns="0" rtlCol="0" anchor="ctr"/>
          <a:lstStyle/>
          <a:p>
            <a:pPr indent="0" marL="0">
              <a:buNone/>
            </a:pPr>
            <a:r>
              <a:rPr lang="en-US" sz="1800" b="1" dirty="0">
                <a:solidFill>
                  <a:schemeClr val="tx2"/>
                </a:solidFill>
              </a:rPr>
              <a:t>Real (published)</a:t>
            </a:r>
            <a:endParaRPr lang="en-US" sz="1800" dirty="0"/>
          </a:p>
        </p:txBody>
      </p:sp>
      <p:sp>
        <p:nvSpPr>
          <p:cNvPr id="7" name="real column list"/>
          <p:cNvSpPr txBox="1"/>
          <p:nvPr/>
        </p:nvSpPr>
        <p:spPr>
          <a:xfrm>
            <a:off x="731520" y="2057400"/>
            <a:ext cx="352044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Cooray et al. (2019): WQI method, weights and limits</a:t>
            </a:r>
            <a:endParaRPr lang="en-US" sz="1400" dirty="0"/>
          </a:p>
          <a:p>
            <a:pPr marL="342900" indent="-342900">
              <a:spcAft>
                <a:spcPts val="600"/>
              </a:spcAft>
              <a:buSzPct val="100000"/>
              <a:buChar char="•"/>
            </a:pPr>
            <a:r>
              <a:rPr lang="en-US" sz="1400" dirty="0">
                <a:solidFill>
                  <a:schemeClr val="tx1"/>
                </a:solidFill>
              </a:rPr>
              <a:t>Cooray et al. (2019): water-quality statistics by CKDu prevalence area and season</a:t>
            </a:r>
            <a:endParaRPr lang="en-US" sz="1400" dirty="0"/>
          </a:p>
          <a:p>
            <a:pPr marL="342900" indent="-342900">
              <a:spcAft>
                <a:spcPts val="600"/>
              </a:spcAft>
              <a:buSzPct val="100000"/>
              <a:buChar char="•"/>
            </a:pPr>
            <a:r>
              <a:rPr lang="en-US" sz="1400" dirty="0">
                <a:solidFill>
                  <a:schemeClr val="tx1"/>
                </a:solidFill>
              </a:rPr>
              <a:t>Census of Population and Housing 2012: population of the 11 DS divisions</a:t>
            </a:r>
            <a:endParaRPr lang="en-US" sz="1400" dirty="0"/>
          </a:p>
          <a:p>
            <a:pPr marL="342900" indent="-342900">
              <a:spcAft>
                <a:spcPts val="600"/>
              </a:spcAft>
              <a:buSzPct val="100000"/>
              <a:buChar char="•"/>
            </a:pPr>
            <a:r>
              <a:rPr lang="en-US" sz="1400" dirty="0">
                <a:solidFill>
                  <a:schemeClr val="tx1"/>
                </a:solidFill>
              </a:rPr>
              <a:t>OpenStreetMap: division locations</a:t>
            </a:r>
            <a:endParaRPr lang="en-US" sz="1400" dirty="0"/>
          </a:p>
        </p:txBody>
      </p:sp>
      <p:sp>
        <p:nvSpPr>
          <p:cNvPr id="8" name="synthetic column"/>
          <p:cNvSpPr/>
          <p:nvPr/>
        </p:nvSpPr>
        <p:spPr>
          <a:xfrm>
            <a:off x="4709160" y="1188720"/>
            <a:ext cx="3977640" cy="3337560"/>
          </a:xfrm>
          <a:prstGeom prst="roundRect">
            <a:avLst>
              <a:gd name="adj" fmla="val 2192"/>
            </a:avLst>
          </a:prstGeom>
          <a:solidFill>
            <a:schemeClr val="bg2"/>
          </a:solidFill>
          <a:ln w="12700">
            <a:solidFill>
              <a:schemeClr val="bg2"/>
            </a:solidFill>
            <a:prstDash val="solid"/>
          </a:ln>
        </p:spPr>
      </p:sp>
      <p:sp>
        <p:nvSpPr>
          <p:cNvPr id="9" name="synthetic column circle"/>
          <p:cNvSpPr/>
          <p:nvPr/>
        </p:nvSpPr>
        <p:spPr>
          <a:xfrm>
            <a:off x="4937760" y="1353312"/>
            <a:ext cx="548640" cy="548640"/>
          </a:xfrm>
          <a:prstGeom prst="ellipse">
            <a:avLst/>
          </a:prstGeom>
          <a:solidFill>
            <a:schemeClr val="accent2"/>
          </a:solidFill>
          <a:ln w="12700">
            <a:solidFill>
              <a:schemeClr val="accent2"/>
            </a:solidFill>
            <a:prstDash val="solid"/>
          </a:ln>
        </p:spPr>
      </p:sp>
      <p:pic>
        <p:nvPicPr>
          <p:cNvPr id="10" name="synthetic column icon" descr="preencoded.png">    </p:cNvPr>
          <p:cNvPicPr>
            <a:picLocks noChangeAspect="1"/>
          </p:cNvPicPr>
          <p:nvPr/>
        </p:nvPicPr>
        <p:blipFill>
          <a:blip r:embed="rId2"/>
          <a:stretch>
            <a:fillRect/>
          </a:stretch>
        </p:blipFill>
        <p:spPr>
          <a:xfrm>
            <a:off x="5085893" y="1501445"/>
            <a:ext cx="252374" cy="252374"/>
          </a:xfrm>
          <a:prstGeom prst="rect">
            <a:avLst/>
          </a:prstGeom>
        </p:spPr>
      </p:pic>
      <p:sp>
        <p:nvSpPr>
          <p:cNvPr id="11" name="synthetic column head"/>
          <p:cNvSpPr txBox="1"/>
          <p:nvPr/>
        </p:nvSpPr>
        <p:spPr>
          <a:xfrm>
            <a:off x="5623560" y="1353312"/>
            <a:ext cx="2926080" cy="548640"/>
          </a:xfrm>
          <a:prstGeom prst="rect">
            <a:avLst/>
          </a:prstGeom>
          <a:noFill/>
          <a:ln/>
        </p:spPr>
        <p:txBody>
          <a:bodyPr wrap="square" lIns="0" tIns="0" rIns="0" bIns="0" rtlCol="0" anchor="ctr"/>
          <a:lstStyle/>
          <a:p>
            <a:pPr indent="0" marL="0">
              <a:buNone/>
            </a:pPr>
            <a:r>
              <a:rPr lang="en-US" sz="1800" b="1" dirty="0">
                <a:solidFill>
                  <a:schemeClr val="accent2"/>
                </a:solidFill>
              </a:rPr>
              <a:t>Synthetic (labelled)</a:t>
            </a:r>
            <a:endParaRPr lang="en-US" sz="1800" dirty="0"/>
          </a:p>
        </p:txBody>
      </p:sp>
      <p:sp>
        <p:nvSpPr>
          <p:cNvPr id="12" name="synthetic column list"/>
          <p:cNvSpPr txBox="1"/>
          <p:nvPr/>
        </p:nvSpPr>
        <p:spPr>
          <a:xfrm>
            <a:off x="4983480" y="2057400"/>
            <a:ext cx="352044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440 well readings: 20 wells × 11 divisions × 2 seasons</a:t>
            </a:r>
            <a:endParaRPr lang="en-US" sz="1400" dirty="0"/>
          </a:p>
          <a:p>
            <a:pPr marL="342900" indent="-342900">
              <a:spcAft>
                <a:spcPts val="600"/>
              </a:spcAft>
              <a:buSzPct val="100000"/>
              <a:buChar char="•"/>
            </a:pPr>
            <a:r>
              <a:rPr lang="en-US" sz="1400" dirty="0">
                <a:solidFill>
                  <a:schemeClr val="tx1"/>
                </a:solidFill>
              </a:rPr>
              <a:t>Generated from the published averages and ranges, fixed random seed</a:t>
            </a:r>
            <a:endParaRPr lang="en-US" sz="1400" dirty="0"/>
          </a:p>
          <a:p>
            <a:pPr marL="342900" indent="-342900">
              <a:spcAft>
                <a:spcPts val="600"/>
              </a:spcAft>
              <a:buSzPct val="100000"/>
              <a:buChar char="•"/>
            </a:pPr>
            <a:r>
              <a:rPr lang="en-US" sz="1400" dirty="0">
                <a:solidFill>
                  <a:schemeClr val="tx1"/>
                </a:solidFill>
              </a:rPr>
              <a:t>Every row carries source = "synthetic"</a:t>
            </a:r>
            <a:endParaRPr lang="en-US" sz="1400" dirty="0"/>
          </a:p>
          <a:p>
            <a:pPr marL="342900" indent="-342900">
              <a:spcAft>
                <a:spcPts val="600"/>
              </a:spcAft>
              <a:buSzPct val="100000"/>
              <a:buChar char="•"/>
            </a:pPr>
            <a:r>
              <a:rPr lang="en-US" sz="1400" dirty="0">
                <a:solidFill>
                  <a:schemeClr val="tx1"/>
                </a:solidFill>
              </a:rPr>
              <a:t>Seasons repeat across months: Oct–Jan Wet, Feb–Sep Dry</a:t>
            </a:r>
            <a:endParaRPr lang="en-US" sz="14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Part A · Data and first agents</a:t>
            </a:r>
            <a:endParaRPr lang="en-US" sz="3600" dirty="0"/>
          </a:p>
        </p:txBody>
      </p:sp>
      <p:sp>
        <p:nvSpPr>
          <p:cNvPr id="3" name="presenter"/>
          <p:cNvSpPr txBox="1"/>
          <p:nvPr/>
        </p:nvSpPr>
        <p:spPr>
          <a:xfrm>
            <a:off x="457200" y="914400"/>
            <a:ext cx="8229600" cy="292608"/>
          </a:xfrm>
          <a:prstGeom prst="rect">
            <a:avLst/>
          </a:prstGeom>
          <a:noFill/>
          <a:ln/>
        </p:spPr>
        <p:txBody>
          <a:bodyPr wrap="square" lIns="0" tIns="0" rIns="0" bIns="0" rtlCol="0" anchor="ctr"/>
          <a:lstStyle/>
          <a:p>
            <a:pPr indent="0" marL="0">
              <a:buNone/>
            </a:pPr>
            <a:r>
              <a:rPr lang="en-US" sz="1400" dirty="0">
                <a:solidFill>
                  <a:schemeClr val="accent6"/>
                </a:solidFill>
              </a:rPr>
              <a:t>Presented by  </a:t>
            </a:r>
            <a:pPr indent="0" marL="0">
              <a:buNone/>
            </a:pPr>
            <a:r>
              <a:rPr lang="en-US" sz="1400" b="1" dirty="0">
                <a:solidFill>
                  <a:schemeClr val="accent2"/>
                </a:solidFill>
              </a:rPr>
              <a:t>[Member A name]</a:t>
            </a:r>
            <a:endParaRPr lang="en-US" sz="1400" dirty="0"/>
          </a:p>
        </p:txBody>
      </p:sp>
      <p:sp>
        <p:nvSpPr>
          <p:cNvPr id="4" name="part A 1 circle"/>
          <p:cNvSpPr/>
          <p:nvPr/>
        </p:nvSpPr>
        <p:spPr>
          <a:xfrm>
            <a:off x="457200" y="1417320"/>
            <a:ext cx="685800" cy="685800"/>
          </a:xfrm>
          <a:prstGeom prst="ellipse">
            <a:avLst/>
          </a:prstGeom>
          <a:solidFill>
            <a:schemeClr val="tx2"/>
          </a:solidFill>
          <a:ln w="12700">
            <a:solidFill>
              <a:schemeClr val="tx2"/>
            </a:solidFill>
            <a:prstDash val="solid"/>
          </a:ln>
        </p:spPr>
      </p:sp>
      <p:pic>
        <p:nvPicPr>
          <p:cNvPr id="5" name="part A 1 icon" descr="preencoded.png">    </p:cNvPr>
          <p:cNvPicPr>
            <a:picLocks noChangeAspect="1"/>
          </p:cNvPicPr>
          <p:nvPr/>
        </p:nvPicPr>
        <p:blipFill>
          <a:blip r:embed="rId1"/>
          <a:stretch>
            <a:fillRect/>
          </a:stretch>
        </p:blipFill>
        <p:spPr>
          <a:xfrm>
            <a:off x="642366" y="1602486"/>
            <a:ext cx="315468" cy="315468"/>
          </a:xfrm>
          <a:prstGeom prst="rect">
            <a:avLst/>
          </a:prstGeom>
        </p:spPr>
      </p:pic>
      <p:sp>
        <p:nvSpPr>
          <p:cNvPr id="6" name="part A 1 text"/>
          <p:cNvSpPr txBox="1"/>
          <p:nvPr/>
        </p:nvSpPr>
        <p:spPr>
          <a:xfrm>
            <a:off x="1325880" y="1371600"/>
            <a:ext cx="3840480" cy="868680"/>
          </a:xfrm>
          <a:prstGeom prst="rect">
            <a:avLst/>
          </a:prstGeom>
          <a:noFill/>
          <a:ln/>
        </p:spPr>
        <p:txBody>
          <a:bodyPr wrap="square" lIns="0" tIns="0" rIns="0" bIns="0" rtlCol="0" anchor="t"/>
          <a:lstStyle/>
          <a:p>
            <a:pPr indent="0" marL="0">
              <a:buNone/>
            </a:pPr>
            <a:r>
              <a:rPr lang="en-US" sz="1600" b="1" dirty="0">
                <a:solidFill>
                  <a:schemeClr val="tx2"/>
                </a:solidFill>
              </a:rPr>
              <a:t>Data layer</a:t>
            </a:r>
            <a:endParaRPr lang="en-US" sz="1600" dirty="0"/>
          </a:p>
          <a:p>
            <a:pPr indent="0" marL="0">
              <a:buNone/>
            </a:pPr>
            <a:r>
              <a:rPr lang="en-US" sz="1400" dirty="0">
                <a:solidFill>
                  <a:schemeClr val="tx1"/>
                </a:solidFill>
              </a:rPr>
              <a:t>Loads and checks real and synthetic data, never mixing them silently</a:t>
            </a:r>
            <a:endParaRPr lang="en-US" sz="1600" dirty="0"/>
          </a:p>
        </p:txBody>
      </p:sp>
      <p:sp>
        <p:nvSpPr>
          <p:cNvPr id="7" name="part A 2 circle"/>
          <p:cNvSpPr/>
          <p:nvPr/>
        </p:nvSpPr>
        <p:spPr>
          <a:xfrm>
            <a:off x="457200" y="2441448"/>
            <a:ext cx="685800" cy="685800"/>
          </a:xfrm>
          <a:prstGeom prst="ellipse">
            <a:avLst/>
          </a:prstGeom>
          <a:solidFill>
            <a:schemeClr val="tx2"/>
          </a:solidFill>
          <a:ln w="12700">
            <a:solidFill>
              <a:schemeClr val="tx2"/>
            </a:solidFill>
            <a:prstDash val="solid"/>
          </a:ln>
        </p:spPr>
      </p:sp>
      <p:pic>
        <p:nvPicPr>
          <p:cNvPr id="8" name="part A 2 icon" descr="preencoded.png">    </p:cNvPr>
          <p:cNvPicPr>
            <a:picLocks noChangeAspect="1"/>
          </p:cNvPicPr>
          <p:nvPr/>
        </p:nvPicPr>
        <p:blipFill>
          <a:blip r:embed="rId2"/>
          <a:stretch>
            <a:fillRect/>
          </a:stretch>
        </p:blipFill>
        <p:spPr>
          <a:xfrm>
            <a:off x="642366" y="2626614"/>
            <a:ext cx="315468" cy="315468"/>
          </a:xfrm>
          <a:prstGeom prst="rect">
            <a:avLst/>
          </a:prstGeom>
        </p:spPr>
      </p:pic>
      <p:sp>
        <p:nvSpPr>
          <p:cNvPr id="9" name="part A 2 text"/>
          <p:cNvSpPr txBox="1"/>
          <p:nvPr/>
        </p:nvSpPr>
        <p:spPr>
          <a:xfrm>
            <a:off x="1325880" y="2395728"/>
            <a:ext cx="3840480" cy="868680"/>
          </a:xfrm>
          <a:prstGeom prst="rect">
            <a:avLst/>
          </a:prstGeom>
          <a:noFill/>
          <a:ln/>
        </p:spPr>
        <p:txBody>
          <a:bodyPr wrap="square" lIns="0" tIns="0" rIns="0" bIns="0" rtlCol="0" anchor="t"/>
          <a:lstStyle/>
          <a:p>
            <a:pPr indent="0" marL="0">
              <a:buNone/>
            </a:pPr>
            <a:r>
              <a:rPr lang="en-US" sz="1600" b="1" dirty="0">
                <a:solidFill>
                  <a:schemeClr val="tx2"/>
                </a:solidFill>
              </a:rPr>
              <a:t>ClockAgent</a:t>
            </a:r>
            <a:endParaRPr lang="en-US" sz="1600" dirty="0"/>
          </a:p>
          <a:p>
            <a:pPr indent="0" marL="0">
              <a:buNone/>
            </a:pPr>
            <a:r>
              <a:rPr lang="en-US" sz="1400" dirty="0">
                <a:solidFill>
                  <a:schemeClr val="tx1"/>
                </a:solidFill>
              </a:rPr>
              <a:t>Sends a month_tick each simulated month: month and season</a:t>
            </a:r>
            <a:endParaRPr lang="en-US" sz="1600" dirty="0"/>
          </a:p>
        </p:txBody>
      </p:sp>
      <p:sp>
        <p:nvSpPr>
          <p:cNvPr id="10" name="part A 3 circle"/>
          <p:cNvSpPr/>
          <p:nvPr/>
        </p:nvSpPr>
        <p:spPr>
          <a:xfrm>
            <a:off x="457200" y="3465576"/>
            <a:ext cx="685800" cy="685800"/>
          </a:xfrm>
          <a:prstGeom prst="ellipse">
            <a:avLst/>
          </a:prstGeom>
          <a:solidFill>
            <a:schemeClr val="tx2"/>
          </a:solidFill>
          <a:ln w="12700">
            <a:solidFill>
              <a:schemeClr val="tx2"/>
            </a:solidFill>
            <a:prstDash val="solid"/>
          </a:ln>
        </p:spPr>
      </p:sp>
      <p:pic>
        <p:nvPicPr>
          <p:cNvPr id="11" name="part A 3 icon" descr="preencoded.png">    </p:cNvPr>
          <p:cNvPicPr>
            <a:picLocks noChangeAspect="1"/>
          </p:cNvPicPr>
          <p:nvPr/>
        </p:nvPicPr>
        <p:blipFill>
          <a:blip r:embed="rId3"/>
          <a:stretch>
            <a:fillRect/>
          </a:stretch>
        </p:blipFill>
        <p:spPr>
          <a:xfrm>
            <a:off x="642366" y="3650742"/>
            <a:ext cx="315468" cy="315468"/>
          </a:xfrm>
          <a:prstGeom prst="rect">
            <a:avLst/>
          </a:prstGeom>
        </p:spPr>
      </p:pic>
      <p:sp>
        <p:nvSpPr>
          <p:cNvPr id="12" name="part A 3 text"/>
          <p:cNvSpPr txBox="1"/>
          <p:nvPr/>
        </p:nvSpPr>
        <p:spPr>
          <a:xfrm>
            <a:off x="1325880" y="3419856"/>
            <a:ext cx="3840480" cy="868680"/>
          </a:xfrm>
          <a:prstGeom prst="rect">
            <a:avLst/>
          </a:prstGeom>
          <a:noFill/>
          <a:ln/>
        </p:spPr>
        <p:txBody>
          <a:bodyPr wrap="square" lIns="0" tIns="0" rIns="0" bIns="0" rtlCol="0" anchor="t"/>
          <a:lstStyle/>
          <a:p>
            <a:pPr indent="0" marL="0">
              <a:buNone/>
            </a:pPr>
            <a:r>
              <a:rPr lang="en-US" sz="1600" b="1" dirty="0">
                <a:solidFill>
                  <a:schemeClr val="tx2"/>
                </a:solidFill>
              </a:rPr>
              <a:t>WellMonitorAgent</a:t>
            </a:r>
            <a:endParaRPr lang="en-US" sz="1600" dirty="0"/>
          </a:p>
          <a:p>
            <a:pPr indent="0" marL="0">
              <a:buNone/>
            </a:pPr>
            <a:r>
              <a:rPr lang="en-US" sz="1400" dirty="0">
                <a:solidFill>
                  <a:schemeClr val="tx1"/>
                </a:solidFill>
              </a:rPr>
              <a:t>On each tick, sends each village's 20 well readings to RiskScoring</a:t>
            </a:r>
            <a:endParaRPr lang="en-US" sz="1600" dirty="0"/>
          </a:p>
        </p:txBody>
      </p:sp>
      <p:sp>
        <p:nvSpPr>
          <p:cNvPr id="13" name="message card"/>
          <p:cNvSpPr/>
          <p:nvPr/>
        </p:nvSpPr>
        <p:spPr>
          <a:xfrm>
            <a:off x="5486400" y="1417320"/>
            <a:ext cx="3200400" cy="3017520"/>
          </a:xfrm>
          <a:prstGeom prst="roundRect">
            <a:avLst>
              <a:gd name="adj" fmla="val 2424"/>
            </a:avLst>
          </a:prstGeom>
          <a:solidFill>
            <a:schemeClr val="bg2"/>
          </a:solidFill>
          <a:ln w="12700">
            <a:solidFill>
              <a:schemeClr val="bg2"/>
            </a:solidFill>
            <a:prstDash val="solid"/>
          </a:ln>
        </p:spPr>
      </p:sp>
      <p:sp>
        <p:nvSpPr>
          <p:cNvPr id="14" name="message card title"/>
          <p:cNvSpPr txBox="1"/>
          <p:nvPr/>
        </p:nvSpPr>
        <p:spPr>
          <a:xfrm>
            <a:off x="5669280" y="1536192"/>
            <a:ext cx="2834640" cy="320040"/>
          </a:xfrm>
          <a:prstGeom prst="rect">
            <a:avLst/>
          </a:prstGeom>
          <a:noFill/>
          <a:ln/>
        </p:spPr>
        <p:txBody>
          <a:bodyPr wrap="square" lIns="0" tIns="0" rIns="0" bIns="0" rtlCol="0" anchor="ctr"/>
          <a:lstStyle/>
          <a:p>
            <a:pPr indent="0" marL="0">
              <a:buNone/>
            </a:pPr>
            <a:r>
              <a:rPr lang="en-US" sz="1300" b="1" dirty="0">
                <a:solidFill>
                  <a:schemeClr val="tx2"/>
                </a:solidFill>
              </a:rPr>
              <a:t>Message sent per village, per month</a:t>
            </a:r>
            <a:endParaRPr lang="en-US" sz="1300" dirty="0"/>
          </a:p>
        </p:txBody>
      </p:sp>
      <p:sp>
        <p:nvSpPr>
          <p:cNvPr id="15" name="message json"/>
          <p:cNvSpPr txBox="1"/>
          <p:nvPr/>
        </p:nvSpPr>
        <p:spPr>
          <a:xfrm>
            <a:off x="5669280" y="1920240"/>
            <a:ext cx="2834640" cy="16002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well_readings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month_index: 0,</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ds_division: "Talawa",</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source: "synthetic",</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readings: [20 wells]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16" name="message count"/>
          <p:cNvSpPr txBox="1"/>
          <p:nvPr/>
        </p:nvSpPr>
        <p:spPr>
          <a:xfrm>
            <a:off x="5669280" y="3794760"/>
            <a:ext cx="2834640" cy="365760"/>
          </a:xfrm>
          <a:prstGeom prst="rect">
            <a:avLst/>
          </a:prstGeom>
          <a:noFill/>
          <a:ln/>
        </p:spPr>
        <p:txBody>
          <a:bodyPr wrap="square" lIns="0" tIns="0" rIns="0" bIns="0" rtlCol="0" anchor="ctr"/>
          <a:lstStyle/>
          <a:p>
            <a:pPr indent="0" marL="0">
              <a:buNone/>
            </a:pPr>
            <a:r>
              <a:rPr lang="en-US" sz="1400" b="1" dirty="0">
                <a:solidFill>
                  <a:schemeClr val="accent2"/>
                </a:solidFill>
              </a:rPr>
              <a:t>1 tick in  →  11 messages out</a:t>
            </a:r>
            <a:endParaRPr lang="en-US" sz="14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Part B · Risk scoring</a:t>
            </a:r>
            <a:endParaRPr lang="en-US" sz="3600" dirty="0"/>
          </a:p>
        </p:txBody>
      </p:sp>
      <p:sp>
        <p:nvSpPr>
          <p:cNvPr id="3" name="presenter"/>
          <p:cNvSpPr txBox="1"/>
          <p:nvPr/>
        </p:nvSpPr>
        <p:spPr>
          <a:xfrm>
            <a:off x="457200" y="914400"/>
            <a:ext cx="8229600" cy="292608"/>
          </a:xfrm>
          <a:prstGeom prst="rect">
            <a:avLst/>
          </a:prstGeom>
          <a:noFill/>
          <a:ln/>
        </p:spPr>
        <p:txBody>
          <a:bodyPr wrap="square" lIns="0" tIns="0" rIns="0" bIns="0" rtlCol="0" anchor="ctr"/>
          <a:lstStyle/>
          <a:p>
            <a:pPr indent="0" marL="0">
              <a:buNone/>
            </a:pPr>
            <a:r>
              <a:rPr lang="en-US" sz="1400" dirty="0">
                <a:solidFill>
                  <a:schemeClr val="accent6"/>
                </a:solidFill>
              </a:rPr>
              <a:t>Presented by  </a:t>
            </a:r>
            <a:pPr indent="0" marL="0">
              <a:buNone/>
            </a:pPr>
            <a:r>
              <a:rPr lang="en-US" sz="1400" b="1" dirty="0">
                <a:solidFill>
                  <a:schemeClr val="accent2"/>
                </a:solidFill>
              </a:rPr>
              <a:t>[Member B name]</a:t>
            </a:r>
            <a:endParaRPr lang="en-US" sz="1400" dirty="0"/>
          </a:p>
        </p:txBody>
      </p:sp>
      <p:sp>
        <p:nvSpPr>
          <p:cNvPr id="4" name="formula card"/>
          <p:cNvSpPr/>
          <p:nvPr/>
        </p:nvSpPr>
        <p:spPr>
          <a:xfrm>
            <a:off x="457200" y="1371600"/>
            <a:ext cx="4206240" cy="1371600"/>
          </a:xfrm>
          <a:prstGeom prst="roundRect">
            <a:avLst>
              <a:gd name="adj" fmla="val 5333"/>
            </a:avLst>
          </a:prstGeom>
          <a:solidFill>
            <a:schemeClr val="bg2"/>
          </a:solidFill>
          <a:ln w="12700">
            <a:solidFill>
              <a:schemeClr val="bg2"/>
            </a:solidFill>
            <a:prstDash val="solid"/>
          </a:ln>
        </p:spPr>
      </p:sp>
      <p:sp>
        <p:nvSpPr>
          <p:cNvPr id="5" name="formula"/>
          <p:cNvSpPr txBox="1"/>
          <p:nvPr/>
        </p:nvSpPr>
        <p:spPr>
          <a:xfrm>
            <a:off x="640080" y="1463040"/>
            <a:ext cx="3840480" cy="1188720"/>
          </a:xfrm>
          <a:prstGeom prst="rect">
            <a:avLst/>
          </a:prstGeom>
          <a:noFill/>
          <a:ln/>
        </p:spPr>
        <p:txBody>
          <a:bodyPr wrap="square" lIns="0" tIns="0" rIns="0" bIns="0" rtlCol="0" anchor="ctr"/>
          <a:lstStyle/>
          <a:p>
            <a:pPr indent="0" marL="0">
              <a:spcAft>
                <a:spcPts val="600"/>
              </a:spcAft>
              <a:buNone/>
            </a:pPr>
            <a:r>
              <a:rPr lang="en-US" sz="1800" b="1" dirty="0">
                <a:solidFill>
                  <a:schemeClr val="tx2"/>
                </a:solidFill>
                <a:latin typeface="Cambria" pitchFamily="34" charset="0"/>
                <a:ea typeface="Cambria" pitchFamily="34" charset="-122"/>
                <a:cs typeface="Cambria" pitchFamily="34" charset="-120"/>
              </a:rPr>
              <a:t>WQI = Σ Wᵢ · qᵢ     qᵢ = (Cᵢ / Sᵢ) × 100</a:t>
            </a:r>
            <a:endParaRPr lang="en-US" sz="1800" dirty="0"/>
          </a:p>
          <a:p>
            <a:pPr indent="0" marL="0">
              <a:spcAft>
                <a:spcPts val="600"/>
              </a:spcAft>
              <a:buNone/>
            </a:pPr>
            <a:r>
              <a:rPr lang="en-US" sz="1200" dirty="0">
                <a:solidFill>
                  <a:schemeClr val="accent6"/>
                </a:solidFill>
              </a:rPr>
              <a:t>C = measured value, S = Sri Lankan standard, W = published weight (Cooray et al. 2019)</a:t>
            </a:r>
            <a:endParaRPr lang="en-US" sz="1800" dirty="0"/>
          </a:p>
        </p:txBody>
      </p:sp>
      <p:sp>
        <p:nvSpPr>
          <p:cNvPr id="6" name="part B bullets"/>
          <p:cNvSpPr txBox="1"/>
          <p:nvPr/>
        </p:nvSpPr>
        <p:spPr>
          <a:xfrm>
            <a:off x="457200" y="2926080"/>
            <a:ext cx="420624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Village score = median WQI of its 20 wells</a:t>
            </a:r>
            <a:endParaRPr lang="en-US" sz="1400" dirty="0"/>
          </a:p>
          <a:p>
            <a:pPr marL="342900" indent="-342900">
              <a:spcAft>
                <a:spcPts val="600"/>
              </a:spcAft>
              <a:buSzPct val="100000"/>
              <a:buChar char="•"/>
            </a:pPr>
            <a:r>
              <a:rPr lang="en-US" sz="1400" dirty="0">
                <a:solidFill>
                  <a:schemeClr val="tx1"/>
                </a:solidFill>
              </a:rPr>
              <a:t>8 of 13 published parameters available, so a reduced-parameter WQI</a:t>
            </a:r>
            <a:endParaRPr lang="en-US" sz="1400" dirty="0"/>
          </a:p>
          <a:p>
            <a:pPr marL="342900" indent="-342900">
              <a:spcAft>
                <a:spcPts val="600"/>
              </a:spcAft>
              <a:buSzPct val="100000"/>
              <a:buChar char="•"/>
            </a:pPr>
            <a:r>
              <a:rPr lang="en-US" sz="1400" dirty="0">
                <a:solidFill>
                  <a:schemeClr val="tx1"/>
                </a:solidFill>
              </a:rPr>
              <a:t>Hotspot: Poor or worse for 2 months in a row (a project rule)</a:t>
            </a:r>
            <a:endParaRPr lang="en-US" sz="1400" dirty="0"/>
          </a:p>
        </p:txBody>
      </p:sp>
      <p:sp>
        <p:nvSpPr>
          <p:cNvPr id="7" name="tier heading"/>
          <p:cNvSpPr txBox="1"/>
          <p:nvPr/>
        </p:nvSpPr>
        <p:spPr>
          <a:xfrm>
            <a:off x="5120640" y="1371600"/>
            <a:ext cx="3566160" cy="320040"/>
          </a:xfrm>
          <a:prstGeom prst="rect">
            <a:avLst/>
          </a:prstGeom>
          <a:noFill/>
          <a:ln/>
        </p:spPr>
        <p:txBody>
          <a:bodyPr wrap="square" lIns="0" tIns="0" rIns="0" bIns="0" rtlCol="0" anchor="ctr"/>
          <a:lstStyle/>
          <a:p>
            <a:pPr indent="0" marL="0">
              <a:buNone/>
            </a:pPr>
            <a:r>
              <a:rPr lang="en-US" sz="1400" b="1" dirty="0">
                <a:solidFill>
                  <a:schemeClr val="tx2"/>
                </a:solidFill>
              </a:rPr>
              <a:t>WQI tiers (published classes)</a:t>
            </a:r>
            <a:endParaRPr lang="en-US" sz="1400" dirty="0"/>
          </a:p>
        </p:txBody>
      </p:sp>
      <p:sp>
        <p:nvSpPr>
          <p:cNvPr id="8" name="tier Excellent"/>
          <p:cNvSpPr/>
          <p:nvPr/>
        </p:nvSpPr>
        <p:spPr>
          <a:xfrm>
            <a:off x="5120640" y="1783080"/>
            <a:ext cx="3566160" cy="457200"/>
          </a:xfrm>
          <a:prstGeom prst="roundRect">
            <a:avLst>
              <a:gd name="adj" fmla="val 12000"/>
            </a:avLst>
          </a:prstGeom>
          <a:solidFill>
            <a:srgbClr val="2D6E48"/>
          </a:solidFill>
          <a:ln w="12700">
            <a:solidFill>
              <a:srgbClr val="2D6E48"/>
            </a:solidFill>
            <a:prstDash val="solid"/>
          </a:ln>
        </p:spPr>
      </p:sp>
      <p:sp>
        <p:nvSpPr>
          <p:cNvPr id="9" name="tier Excellent name"/>
          <p:cNvSpPr txBox="1"/>
          <p:nvPr/>
        </p:nvSpPr>
        <p:spPr>
          <a:xfrm>
            <a:off x="5303520" y="1783080"/>
            <a:ext cx="1828800" cy="457200"/>
          </a:xfrm>
          <a:prstGeom prst="rect">
            <a:avLst/>
          </a:prstGeom>
          <a:noFill/>
          <a:ln/>
        </p:spPr>
        <p:txBody>
          <a:bodyPr wrap="square" lIns="0" tIns="0" rIns="0" bIns="0" rtlCol="0" anchor="ctr"/>
          <a:lstStyle/>
          <a:p>
            <a:pPr indent="0" marL="0">
              <a:buNone/>
            </a:pPr>
            <a:r>
              <a:rPr lang="en-US" sz="1400" b="1" dirty="0">
                <a:solidFill>
                  <a:srgbClr val="FFFFFF"/>
                </a:solidFill>
              </a:rPr>
              <a:t>Excellent</a:t>
            </a:r>
            <a:endParaRPr lang="en-US" sz="1400" dirty="0"/>
          </a:p>
        </p:txBody>
      </p:sp>
      <p:sp>
        <p:nvSpPr>
          <p:cNvPr id="10" name="tier Excellent range"/>
          <p:cNvSpPr txBox="1"/>
          <p:nvPr/>
        </p:nvSpPr>
        <p:spPr>
          <a:xfrm>
            <a:off x="6949440" y="1783080"/>
            <a:ext cx="1554480" cy="457200"/>
          </a:xfrm>
          <a:prstGeom prst="rect">
            <a:avLst/>
          </a:prstGeom>
          <a:noFill/>
          <a:ln/>
        </p:spPr>
        <p:txBody>
          <a:bodyPr wrap="square" lIns="0" tIns="0" rIns="0" bIns="0" rtlCol="0" anchor="ctr"/>
          <a:lstStyle/>
          <a:p>
            <a:pPr algn="r" indent="0" marL="0">
              <a:buNone/>
            </a:pPr>
            <a:r>
              <a:rPr lang="en-US" sz="1400" dirty="0">
                <a:solidFill>
                  <a:srgbClr val="FFFFFF"/>
                </a:solidFill>
              </a:rPr>
              <a:t>below 50</a:t>
            </a:r>
            <a:endParaRPr lang="en-US" sz="1400" dirty="0"/>
          </a:p>
        </p:txBody>
      </p:sp>
      <p:sp>
        <p:nvSpPr>
          <p:cNvPr id="11" name="tier Good"/>
          <p:cNvSpPr/>
          <p:nvPr/>
        </p:nvSpPr>
        <p:spPr>
          <a:xfrm>
            <a:off x="5120640" y="2313432"/>
            <a:ext cx="3566160" cy="457200"/>
          </a:xfrm>
          <a:prstGeom prst="roundRect">
            <a:avLst>
              <a:gd name="adj" fmla="val 12000"/>
            </a:avLst>
          </a:prstGeom>
          <a:solidFill>
            <a:srgbClr val="3A8D5C"/>
          </a:solidFill>
          <a:ln w="12700">
            <a:solidFill>
              <a:srgbClr val="3A8D5C"/>
            </a:solidFill>
            <a:prstDash val="solid"/>
          </a:ln>
        </p:spPr>
      </p:sp>
      <p:sp>
        <p:nvSpPr>
          <p:cNvPr id="12" name="tier Good name"/>
          <p:cNvSpPr txBox="1"/>
          <p:nvPr/>
        </p:nvSpPr>
        <p:spPr>
          <a:xfrm>
            <a:off x="5303520" y="2313432"/>
            <a:ext cx="1828800" cy="457200"/>
          </a:xfrm>
          <a:prstGeom prst="rect">
            <a:avLst/>
          </a:prstGeom>
          <a:noFill/>
          <a:ln/>
        </p:spPr>
        <p:txBody>
          <a:bodyPr wrap="square" lIns="0" tIns="0" rIns="0" bIns="0" rtlCol="0" anchor="ctr"/>
          <a:lstStyle/>
          <a:p>
            <a:pPr indent="0" marL="0">
              <a:buNone/>
            </a:pPr>
            <a:r>
              <a:rPr lang="en-US" sz="1400" b="1" dirty="0">
                <a:solidFill>
                  <a:srgbClr val="FFFFFF"/>
                </a:solidFill>
              </a:rPr>
              <a:t>Good</a:t>
            </a:r>
            <a:endParaRPr lang="en-US" sz="1400" dirty="0"/>
          </a:p>
        </p:txBody>
      </p:sp>
      <p:sp>
        <p:nvSpPr>
          <p:cNvPr id="13" name="tier Good range"/>
          <p:cNvSpPr txBox="1"/>
          <p:nvPr/>
        </p:nvSpPr>
        <p:spPr>
          <a:xfrm>
            <a:off x="6949440" y="2313432"/>
            <a:ext cx="1554480" cy="457200"/>
          </a:xfrm>
          <a:prstGeom prst="rect">
            <a:avLst/>
          </a:prstGeom>
          <a:noFill/>
          <a:ln/>
        </p:spPr>
        <p:txBody>
          <a:bodyPr wrap="square" lIns="0" tIns="0" rIns="0" bIns="0" rtlCol="0" anchor="ctr"/>
          <a:lstStyle/>
          <a:p>
            <a:pPr algn="r" indent="0" marL="0">
              <a:buNone/>
            </a:pPr>
            <a:r>
              <a:rPr lang="en-US" sz="1400" dirty="0">
                <a:solidFill>
                  <a:srgbClr val="FFFFFF"/>
                </a:solidFill>
              </a:rPr>
              <a:t>50 – 100</a:t>
            </a:r>
            <a:endParaRPr lang="en-US" sz="1400" dirty="0"/>
          </a:p>
        </p:txBody>
      </p:sp>
      <p:sp>
        <p:nvSpPr>
          <p:cNvPr id="14" name="tier Poor"/>
          <p:cNvSpPr/>
          <p:nvPr/>
        </p:nvSpPr>
        <p:spPr>
          <a:xfrm>
            <a:off x="5120640" y="2843784"/>
            <a:ext cx="3566160" cy="457200"/>
          </a:xfrm>
          <a:prstGeom prst="roundRect">
            <a:avLst>
              <a:gd name="adj" fmla="val 12000"/>
            </a:avLst>
          </a:prstGeom>
          <a:solidFill>
            <a:srgbClr val="D9962B"/>
          </a:solidFill>
          <a:ln w="12700">
            <a:solidFill>
              <a:srgbClr val="D9962B"/>
            </a:solidFill>
            <a:prstDash val="solid"/>
          </a:ln>
        </p:spPr>
      </p:sp>
      <p:sp>
        <p:nvSpPr>
          <p:cNvPr id="15" name="tier Poor name"/>
          <p:cNvSpPr txBox="1"/>
          <p:nvPr/>
        </p:nvSpPr>
        <p:spPr>
          <a:xfrm>
            <a:off x="5303520" y="2843784"/>
            <a:ext cx="1828800" cy="457200"/>
          </a:xfrm>
          <a:prstGeom prst="rect">
            <a:avLst/>
          </a:prstGeom>
          <a:noFill/>
          <a:ln/>
        </p:spPr>
        <p:txBody>
          <a:bodyPr wrap="square" lIns="0" tIns="0" rIns="0" bIns="0" rtlCol="0" anchor="ctr"/>
          <a:lstStyle/>
          <a:p>
            <a:pPr indent="0" marL="0">
              <a:buNone/>
            </a:pPr>
            <a:r>
              <a:rPr lang="en-US" sz="1400" b="1" dirty="0">
                <a:solidFill>
                  <a:srgbClr val="1F2A2E"/>
                </a:solidFill>
              </a:rPr>
              <a:t>Poor</a:t>
            </a:r>
            <a:endParaRPr lang="en-US" sz="1400" dirty="0"/>
          </a:p>
        </p:txBody>
      </p:sp>
      <p:sp>
        <p:nvSpPr>
          <p:cNvPr id="16" name="tier Poor range"/>
          <p:cNvSpPr txBox="1"/>
          <p:nvPr/>
        </p:nvSpPr>
        <p:spPr>
          <a:xfrm>
            <a:off x="6949440" y="2843784"/>
            <a:ext cx="1554480" cy="457200"/>
          </a:xfrm>
          <a:prstGeom prst="rect">
            <a:avLst/>
          </a:prstGeom>
          <a:noFill/>
          <a:ln/>
        </p:spPr>
        <p:txBody>
          <a:bodyPr wrap="square" lIns="0" tIns="0" rIns="0" bIns="0" rtlCol="0" anchor="ctr"/>
          <a:lstStyle/>
          <a:p>
            <a:pPr algn="r" indent="0" marL="0">
              <a:buNone/>
            </a:pPr>
            <a:r>
              <a:rPr lang="en-US" sz="1400" dirty="0">
                <a:solidFill>
                  <a:srgbClr val="1F2A2E"/>
                </a:solidFill>
              </a:rPr>
              <a:t>100 – 200</a:t>
            </a:r>
            <a:endParaRPr lang="en-US" sz="1400" dirty="0"/>
          </a:p>
        </p:txBody>
      </p:sp>
      <p:sp>
        <p:nvSpPr>
          <p:cNvPr id="17" name="tier Very Poor"/>
          <p:cNvSpPr/>
          <p:nvPr/>
        </p:nvSpPr>
        <p:spPr>
          <a:xfrm>
            <a:off x="5120640" y="3374136"/>
            <a:ext cx="3566160" cy="457200"/>
          </a:xfrm>
          <a:prstGeom prst="roundRect">
            <a:avLst>
              <a:gd name="adj" fmla="val 12000"/>
            </a:avLst>
          </a:prstGeom>
          <a:solidFill>
            <a:srgbClr val="B23A2E"/>
          </a:solidFill>
          <a:ln w="12700">
            <a:solidFill>
              <a:srgbClr val="B23A2E"/>
            </a:solidFill>
            <a:prstDash val="solid"/>
          </a:ln>
        </p:spPr>
      </p:sp>
      <p:sp>
        <p:nvSpPr>
          <p:cNvPr id="18" name="tier Very Poor name"/>
          <p:cNvSpPr txBox="1"/>
          <p:nvPr/>
        </p:nvSpPr>
        <p:spPr>
          <a:xfrm>
            <a:off x="5303520" y="3374136"/>
            <a:ext cx="1828800" cy="457200"/>
          </a:xfrm>
          <a:prstGeom prst="rect">
            <a:avLst/>
          </a:prstGeom>
          <a:noFill/>
          <a:ln/>
        </p:spPr>
        <p:txBody>
          <a:bodyPr wrap="square" lIns="0" tIns="0" rIns="0" bIns="0" rtlCol="0" anchor="ctr"/>
          <a:lstStyle/>
          <a:p>
            <a:pPr indent="0" marL="0">
              <a:buNone/>
            </a:pPr>
            <a:r>
              <a:rPr lang="en-US" sz="1400" b="1" dirty="0">
                <a:solidFill>
                  <a:srgbClr val="FFFFFF"/>
                </a:solidFill>
              </a:rPr>
              <a:t>Very Poor</a:t>
            </a:r>
            <a:endParaRPr lang="en-US" sz="1400" dirty="0"/>
          </a:p>
        </p:txBody>
      </p:sp>
      <p:sp>
        <p:nvSpPr>
          <p:cNvPr id="19" name="tier Very Poor range"/>
          <p:cNvSpPr txBox="1"/>
          <p:nvPr/>
        </p:nvSpPr>
        <p:spPr>
          <a:xfrm>
            <a:off x="6949440" y="3374136"/>
            <a:ext cx="1554480" cy="457200"/>
          </a:xfrm>
          <a:prstGeom prst="rect">
            <a:avLst/>
          </a:prstGeom>
          <a:noFill/>
          <a:ln/>
        </p:spPr>
        <p:txBody>
          <a:bodyPr wrap="square" lIns="0" tIns="0" rIns="0" bIns="0" rtlCol="0" anchor="ctr"/>
          <a:lstStyle/>
          <a:p>
            <a:pPr algn="r" indent="0" marL="0">
              <a:buNone/>
            </a:pPr>
            <a:r>
              <a:rPr lang="en-US" sz="1400" dirty="0">
                <a:solidFill>
                  <a:srgbClr val="FFFFFF"/>
                </a:solidFill>
              </a:rPr>
              <a:t>200 – 300</a:t>
            </a:r>
            <a:endParaRPr lang="en-US" sz="1400" dirty="0"/>
          </a:p>
        </p:txBody>
      </p:sp>
      <p:sp>
        <p:nvSpPr>
          <p:cNvPr id="20" name="tier Unsuitable"/>
          <p:cNvSpPr/>
          <p:nvPr/>
        </p:nvSpPr>
        <p:spPr>
          <a:xfrm>
            <a:off x="5120640" y="3904488"/>
            <a:ext cx="3566160" cy="457200"/>
          </a:xfrm>
          <a:prstGeom prst="roundRect">
            <a:avLst>
              <a:gd name="adj" fmla="val 12000"/>
            </a:avLst>
          </a:prstGeom>
          <a:solidFill>
            <a:srgbClr val="7A1F1A"/>
          </a:solidFill>
          <a:ln w="12700">
            <a:solidFill>
              <a:srgbClr val="7A1F1A"/>
            </a:solidFill>
            <a:prstDash val="solid"/>
          </a:ln>
        </p:spPr>
      </p:sp>
      <p:sp>
        <p:nvSpPr>
          <p:cNvPr id="21" name="tier Unsuitable name"/>
          <p:cNvSpPr txBox="1"/>
          <p:nvPr/>
        </p:nvSpPr>
        <p:spPr>
          <a:xfrm>
            <a:off x="5303520" y="3904488"/>
            <a:ext cx="1828800" cy="457200"/>
          </a:xfrm>
          <a:prstGeom prst="rect">
            <a:avLst/>
          </a:prstGeom>
          <a:noFill/>
          <a:ln/>
        </p:spPr>
        <p:txBody>
          <a:bodyPr wrap="square" lIns="0" tIns="0" rIns="0" bIns="0" rtlCol="0" anchor="ctr"/>
          <a:lstStyle/>
          <a:p>
            <a:pPr indent="0" marL="0">
              <a:buNone/>
            </a:pPr>
            <a:r>
              <a:rPr lang="en-US" sz="1400" b="1" dirty="0">
                <a:solidFill>
                  <a:srgbClr val="FFFFFF"/>
                </a:solidFill>
              </a:rPr>
              <a:t>Unsuitable</a:t>
            </a:r>
            <a:endParaRPr lang="en-US" sz="1400" dirty="0"/>
          </a:p>
        </p:txBody>
      </p:sp>
      <p:sp>
        <p:nvSpPr>
          <p:cNvPr id="22" name="tier Unsuitable range"/>
          <p:cNvSpPr txBox="1"/>
          <p:nvPr/>
        </p:nvSpPr>
        <p:spPr>
          <a:xfrm>
            <a:off x="6949440" y="3904488"/>
            <a:ext cx="1554480" cy="457200"/>
          </a:xfrm>
          <a:prstGeom prst="rect">
            <a:avLst/>
          </a:prstGeom>
          <a:noFill/>
          <a:ln/>
        </p:spPr>
        <p:txBody>
          <a:bodyPr wrap="square" lIns="0" tIns="0" rIns="0" bIns="0" rtlCol="0" anchor="ctr"/>
          <a:lstStyle/>
          <a:p>
            <a:pPr algn="r" indent="0" marL="0">
              <a:buNone/>
            </a:pPr>
            <a:r>
              <a:rPr lang="en-US" sz="1400" dirty="0">
                <a:solidFill>
                  <a:srgbClr val="FFFFFF"/>
                </a:solidFill>
              </a:rPr>
              <a:t>above 300</a:t>
            </a:r>
            <a:endParaRPr lang="en-US" sz="14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Part C · Contract Net</a:t>
            </a:r>
            <a:endParaRPr lang="en-US" sz="3600" dirty="0"/>
          </a:p>
        </p:txBody>
      </p:sp>
      <p:sp>
        <p:nvSpPr>
          <p:cNvPr id="3" name="presenter"/>
          <p:cNvSpPr txBox="1"/>
          <p:nvPr/>
        </p:nvSpPr>
        <p:spPr>
          <a:xfrm>
            <a:off x="457200" y="914400"/>
            <a:ext cx="8229600" cy="292608"/>
          </a:xfrm>
          <a:prstGeom prst="rect">
            <a:avLst/>
          </a:prstGeom>
          <a:noFill/>
          <a:ln/>
        </p:spPr>
        <p:txBody>
          <a:bodyPr wrap="square" lIns="0" tIns="0" rIns="0" bIns="0" rtlCol="0" anchor="ctr"/>
          <a:lstStyle/>
          <a:p>
            <a:pPr indent="0" marL="0">
              <a:buNone/>
            </a:pPr>
            <a:r>
              <a:rPr lang="en-US" sz="1400" dirty="0">
                <a:solidFill>
                  <a:schemeClr val="accent6"/>
                </a:solidFill>
              </a:rPr>
              <a:t>Presented by  </a:t>
            </a:r>
            <a:pPr indent="0" marL="0">
              <a:buNone/>
            </a:pPr>
            <a:r>
              <a:rPr lang="en-US" sz="1400" b="1" dirty="0">
                <a:solidFill>
                  <a:schemeClr val="accent2"/>
                </a:solidFill>
              </a:rPr>
              <a:t>[Member C name]</a:t>
            </a:r>
            <a:endParaRPr lang="en-US" sz="1400" dirty="0"/>
          </a:p>
        </p:txBody>
      </p:sp>
      <p:sp>
        <p:nvSpPr>
          <p:cNvPr id="4" name="Coordinator head"/>
          <p:cNvSpPr/>
          <p:nvPr/>
        </p:nvSpPr>
        <p:spPr>
          <a:xfrm>
            <a:off x="548640" y="1371600"/>
            <a:ext cx="1143000" cy="438912"/>
          </a:xfrm>
          <a:prstGeom prst="roundRect">
            <a:avLst>
              <a:gd name="adj" fmla="val 12500"/>
            </a:avLst>
          </a:prstGeom>
          <a:solidFill>
            <a:schemeClr val="tx2"/>
          </a:solidFill>
          <a:ln w="12700">
            <a:solidFill>
              <a:schemeClr val="tx2"/>
            </a:solidFill>
            <a:prstDash val="solid"/>
          </a:ln>
        </p:spPr>
      </p:sp>
      <p:sp>
        <p:nvSpPr>
          <p:cNvPr id="5" name="Coordinator head text"/>
          <p:cNvSpPr txBox="1"/>
          <p:nvPr/>
        </p:nvSpPr>
        <p:spPr>
          <a:xfrm>
            <a:off x="548640" y="1371600"/>
            <a:ext cx="1143000" cy="438912"/>
          </a:xfrm>
          <a:prstGeom prst="rect">
            <a:avLst/>
          </a:prstGeom>
          <a:noFill/>
          <a:ln/>
        </p:spPr>
        <p:txBody>
          <a:bodyPr wrap="square" lIns="0" tIns="0" rIns="0" bIns="0" rtlCol="0" anchor="ctr"/>
          <a:lstStyle/>
          <a:p>
            <a:pPr algn="ctr" indent="0" marL="0">
              <a:buNone/>
            </a:pPr>
            <a:r>
              <a:rPr lang="en-US" sz="1300" b="1" dirty="0">
                <a:solidFill>
                  <a:schemeClr val="bg1"/>
                </a:solidFill>
              </a:rPr>
              <a:t>Coordinator</a:t>
            </a:r>
            <a:endParaRPr lang="en-US" sz="1300" dirty="0"/>
          </a:p>
        </p:txBody>
      </p:sp>
      <p:sp>
        <p:nvSpPr>
          <p:cNvPr id="6" name="Coordinator lifeline"/>
          <p:cNvSpPr/>
          <p:nvPr/>
        </p:nvSpPr>
        <p:spPr>
          <a:xfrm>
            <a:off x="1120140" y="1828800"/>
            <a:ext cx="0" cy="2606040"/>
          </a:xfrm>
          <a:prstGeom prst="line">
            <a:avLst/>
          </a:prstGeom>
          <a:noFill/>
          <a:ln w="12700">
            <a:solidFill>
              <a:schemeClr val="accent6"/>
            </a:solidFill>
            <a:prstDash val="dash"/>
          </a:ln>
        </p:spPr>
      </p:sp>
      <p:sp>
        <p:nvSpPr>
          <p:cNvPr id="7" name="Village × 11 head"/>
          <p:cNvSpPr/>
          <p:nvPr/>
        </p:nvSpPr>
        <p:spPr>
          <a:xfrm>
            <a:off x="3429000" y="1371600"/>
            <a:ext cx="1143000" cy="438912"/>
          </a:xfrm>
          <a:prstGeom prst="roundRect">
            <a:avLst>
              <a:gd name="adj" fmla="val 12500"/>
            </a:avLst>
          </a:prstGeom>
          <a:solidFill>
            <a:schemeClr val="tx2"/>
          </a:solidFill>
          <a:ln w="12700">
            <a:solidFill>
              <a:schemeClr val="tx2"/>
            </a:solidFill>
            <a:prstDash val="solid"/>
          </a:ln>
        </p:spPr>
      </p:sp>
      <p:sp>
        <p:nvSpPr>
          <p:cNvPr id="8" name="Village × 11 head text"/>
          <p:cNvSpPr txBox="1"/>
          <p:nvPr/>
        </p:nvSpPr>
        <p:spPr>
          <a:xfrm>
            <a:off x="3429000" y="1371600"/>
            <a:ext cx="1143000" cy="438912"/>
          </a:xfrm>
          <a:prstGeom prst="rect">
            <a:avLst/>
          </a:prstGeom>
          <a:noFill/>
          <a:ln/>
        </p:spPr>
        <p:txBody>
          <a:bodyPr wrap="square" lIns="0" tIns="0" rIns="0" bIns="0" rtlCol="0" anchor="ctr"/>
          <a:lstStyle/>
          <a:p>
            <a:pPr algn="ctr" indent="0" marL="0">
              <a:buNone/>
            </a:pPr>
            <a:r>
              <a:rPr lang="en-US" sz="1300" b="1" dirty="0">
                <a:solidFill>
                  <a:schemeClr val="bg1"/>
                </a:solidFill>
              </a:rPr>
              <a:t>Village × 11</a:t>
            </a:r>
            <a:endParaRPr lang="en-US" sz="1300" dirty="0"/>
          </a:p>
        </p:txBody>
      </p:sp>
      <p:sp>
        <p:nvSpPr>
          <p:cNvPr id="9" name="Village × 11 lifeline"/>
          <p:cNvSpPr/>
          <p:nvPr/>
        </p:nvSpPr>
        <p:spPr>
          <a:xfrm>
            <a:off x="4000500" y="1828800"/>
            <a:ext cx="0" cy="2606040"/>
          </a:xfrm>
          <a:prstGeom prst="line">
            <a:avLst/>
          </a:prstGeom>
          <a:noFill/>
          <a:ln w="12700">
            <a:solidFill>
              <a:schemeClr val="accent6"/>
            </a:solidFill>
            <a:prstDash val="dash"/>
          </a:ln>
        </p:spPr>
      </p:sp>
      <p:sp>
        <p:nvSpPr>
          <p:cNvPr id="10" name="cnp msg 1"/>
          <p:cNvSpPr/>
          <p:nvPr/>
        </p:nvSpPr>
        <p:spPr>
          <a:xfrm>
            <a:off x="1165860" y="2240280"/>
            <a:ext cx="2788920" cy="0"/>
          </a:xfrm>
          <a:prstGeom prst="line">
            <a:avLst/>
          </a:prstGeom>
          <a:noFill/>
          <a:ln w="25400">
            <a:solidFill>
              <a:schemeClr val="tx2"/>
            </a:solidFill>
            <a:prstDash val="solid"/>
            <a:tailEnd type="triangle"/>
          </a:ln>
        </p:spPr>
      </p:sp>
      <p:sp>
        <p:nvSpPr>
          <p:cNvPr id="11" name="cnp label 1"/>
          <p:cNvSpPr txBox="1"/>
          <p:nvPr/>
        </p:nvSpPr>
        <p:spPr>
          <a:xfrm>
            <a:off x="1211580" y="1929384"/>
            <a:ext cx="2697480" cy="274320"/>
          </a:xfrm>
          <a:prstGeom prst="rect">
            <a:avLst/>
          </a:prstGeom>
          <a:noFill/>
          <a:ln/>
        </p:spPr>
        <p:txBody>
          <a:bodyPr wrap="square" lIns="0" tIns="0" rIns="0" bIns="0" rtlCol="0" anchor="ctr"/>
          <a:lstStyle/>
          <a:p>
            <a:pPr algn="ctr" indent="0" marL="0">
              <a:buNone/>
            </a:pPr>
            <a:r>
              <a:rPr lang="en-US" sz="1200" dirty="0">
                <a:solidFill>
                  <a:schemeClr val="tx1"/>
                </a:solidFill>
              </a:rPr>
              <a:t>cfp: 3 units, who needs one?</a:t>
            </a:r>
            <a:endParaRPr lang="en-US" sz="1200" dirty="0"/>
          </a:p>
        </p:txBody>
      </p:sp>
      <p:sp>
        <p:nvSpPr>
          <p:cNvPr id="12" name="cnp msg 2"/>
          <p:cNvSpPr/>
          <p:nvPr/>
        </p:nvSpPr>
        <p:spPr>
          <a:xfrm>
            <a:off x="1165860" y="2862072"/>
            <a:ext cx="2788920" cy="0"/>
          </a:xfrm>
          <a:prstGeom prst="line">
            <a:avLst/>
          </a:prstGeom>
          <a:noFill/>
          <a:ln w="25400">
            <a:solidFill>
              <a:schemeClr val="tx2"/>
            </a:solidFill>
            <a:prstDash val="solid"/>
            <a:headEnd type="triangle"/>
          </a:ln>
        </p:spPr>
      </p:sp>
      <p:sp>
        <p:nvSpPr>
          <p:cNvPr id="13" name="cnp label 2"/>
          <p:cNvSpPr txBox="1"/>
          <p:nvPr/>
        </p:nvSpPr>
        <p:spPr>
          <a:xfrm>
            <a:off x="1211580" y="2551176"/>
            <a:ext cx="2697480" cy="274320"/>
          </a:xfrm>
          <a:prstGeom prst="rect">
            <a:avLst/>
          </a:prstGeom>
          <a:noFill/>
          <a:ln/>
        </p:spPr>
        <p:txBody>
          <a:bodyPr wrap="square" lIns="0" tIns="0" rIns="0" bIns="0" rtlCol="0" anchor="ctr"/>
          <a:lstStyle/>
          <a:p>
            <a:pPr algn="ctr" indent="0" marL="0">
              <a:buNone/>
            </a:pPr>
            <a:r>
              <a:rPr lang="en-US" sz="1200" dirty="0">
                <a:solidFill>
                  <a:schemeClr val="tx1"/>
                </a:solidFill>
              </a:rPr>
              <a:t>propose (bid)  /  refuse</a:t>
            </a:r>
            <a:endParaRPr lang="en-US" sz="1200" dirty="0"/>
          </a:p>
        </p:txBody>
      </p:sp>
      <p:sp>
        <p:nvSpPr>
          <p:cNvPr id="14" name="cnp msg 3"/>
          <p:cNvSpPr/>
          <p:nvPr/>
        </p:nvSpPr>
        <p:spPr>
          <a:xfrm>
            <a:off x="1165860" y="3483864"/>
            <a:ext cx="2788920" cy="0"/>
          </a:xfrm>
          <a:prstGeom prst="line">
            <a:avLst/>
          </a:prstGeom>
          <a:noFill/>
          <a:ln w="25400">
            <a:solidFill>
              <a:schemeClr val="tx2"/>
            </a:solidFill>
            <a:prstDash val="solid"/>
            <a:tailEnd type="triangle"/>
          </a:ln>
        </p:spPr>
      </p:sp>
      <p:sp>
        <p:nvSpPr>
          <p:cNvPr id="15" name="cnp label 3"/>
          <p:cNvSpPr txBox="1"/>
          <p:nvPr/>
        </p:nvSpPr>
        <p:spPr>
          <a:xfrm>
            <a:off x="1211580" y="3172968"/>
            <a:ext cx="2697480" cy="274320"/>
          </a:xfrm>
          <a:prstGeom prst="rect">
            <a:avLst/>
          </a:prstGeom>
          <a:noFill/>
          <a:ln/>
        </p:spPr>
        <p:txBody>
          <a:bodyPr wrap="square" lIns="0" tIns="0" rIns="0" bIns="0" rtlCol="0" anchor="ctr"/>
          <a:lstStyle/>
          <a:p>
            <a:pPr algn="ctr" indent="0" marL="0">
              <a:buNone/>
            </a:pPr>
            <a:r>
              <a:rPr lang="en-US" sz="1200" dirty="0">
                <a:solidFill>
                  <a:schemeClr val="tx1"/>
                </a:solidFill>
              </a:rPr>
              <a:t>accept  /  reject</a:t>
            </a:r>
            <a:endParaRPr lang="en-US" sz="1200" dirty="0"/>
          </a:p>
        </p:txBody>
      </p:sp>
      <p:sp>
        <p:nvSpPr>
          <p:cNvPr id="16" name="cnp msg 4"/>
          <p:cNvSpPr/>
          <p:nvPr/>
        </p:nvSpPr>
        <p:spPr>
          <a:xfrm>
            <a:off x="1165860" y="4105656"/>
            <a:ext cx="2788920" cy="0"/>
          </a:xfrm>
          <a:prstGeom prst="line">
            <a:avLst/>
          </a:prstGeom>
          <a:noFill/>
          <a:ln w="25400">
            <a:solidFill>
              <a:schemeClr val="accent2"/>
            </a:solidFill>
            <a:prstDash val="solid"/>
            <a:headEnd type="triangle"/>
          </a:ln>
        </p:spPr>
      </p:sp>
      <p:sp>
        <p:nvSpPr>
          <p:cNvPr id="17" name="cnp label 4"/>
          <p:cNvSpPr txBox="1"/>
          <p:nvPr/>
        </p:nvSpPr>
        <p:spPr>
          <a:xfrm>
            <a:off x="1211580" y="3794760"/>
            <a:ext cx="2697480" cy="274320"/>
          </a:xfrm>
          <a:prstGeom prst="rect">
            <a:avLst/>
          </a:prstGeom>
          <a:noFill/>
          <a:ln/>
        </p:spPr>
        <p:txBody>
          <a:bodyPr wrap="square" lIns="0" tIns="0" rIns="0" bIns="0" rtlCol="0" anchor="ctr"/>
          <a:lstStyle/>
          <a:p>
            <a:pPr algn="ctr" indent="0" marL="0">
              <a:buNone/>
            </a:pPr>
            <a:r>
              <a:rPr lang="en-US" sz="1200" dirty="0">
                <a:solidFill>
                  <a:schemeClr val="tx1"/>
                </a:solidFill>
              </a:rPr>
              <a:t>inform (done)  /  failure</a:t>
            </a:r>
            <a:endParaRPr lang="en-US" sz="1200" dirty="0"/>
          </a:p>
        </p:txBody>
      </p:sp>
      <p:sp>
        <p:nvSpPr>
          <p:cNvPr id="18" name="rules card"/>
          <p:cNvSpPr/>
          <p:nvPr/>
        </p:nvSpPr>
        <p:spPr>
          <a:xfrm>
            <a:off x="5074920" y="1371600"/>
            <a:ext cx="3611880" cy="3063240"/>
          </a:xfrm>
          <a:prstGeom prst="roundRect">
            <a:avLst>
              <a:gd name="adj" fmla="val 2388"/>
            </a:avLst>
          </a:prstGeom>
          <a:solidFill>
            <a:schemeClr val="bg2"/>
          </a:solidFill>
          <a:ln w="12700">
            <a:solidFill>
              <a:schemeClr val="bg2"/>
            </a:solidFill>
            <a:prstDash val="solid"/>
          </a:ln>
        </p:spPr>
      </p:sp>
      <p:sp>
        <p:nvSpPr>
          <p:cNvPr id="19" name="rules list"/>
          <p:cNvSpPr txBox="1"/>
          <p:nvPr/>
        </p:nvSpPr>
        <p:spPr>
          <a:xfrm>
            <a:off x="5257800" y="1508760"/>
            <a:ext cx="329184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Bid = WQI × population, only if tier is Poor or worse</a:t>
            </a:r>
            <a:endParaRPr lang="en-US" sz="1400" dirty="0"/>
          </a:p>
          <a:p>
            <a:pPr marL="342900" indent="-342900">
              <a:spcAft>
                <a:spcPts val="600"/>
              </a:spcAft>
              <a:buSzPct val="100000"/>
              <a:buChar char="•"/>
            </a:pPr>
            <a:r>
              <a:rPr lang="en-US" sz="1400" dirty="0">
                <a:solidFill>
                  <a:schemeClr val="tx1"/>
                </a:solidFill>
              </a:rPr>
              <a:t>Highest bids win; ties broken alphabetically</a:t>
            </a:r>
            <a:endParaRPr lang="en-US" sz="1400" dirty="0"/>
          </a:p>
          <a:p>
            <a:pPr marL="342900" indent="-342900">
              <a:spcAft>
                <a:spcPts val="600"/>
              </a:spcAft>
              <a:buSzPct val="100000"/>
              <a:buChar char="•"/>
            </a:pPr>
            <a:r>
              <a:rPr lang="en-US" sz="1400" dirty="0">
                <a:solidFill>
                  <a:schemeClr val="tx1"/>
                </a:solidFill>
              </a:rPr>
              <a:t>A village that holds an RO unit refuses later RO calls</a:t>
            </a:r>
            <a:endParaRPr lang="en-US" sz="1400" dirty="0"/>
          </a:p>
          <a:p>
            <a:pPr marL="342900" indent="-342900">
              <a:spcAft>
                <a:spcPts val="600"/>
              </a:spcAft>
              <a:buSzPct val="100000"/>
              <a:buChar char="•"/>
            </a:pPr>
            <a:r>
              <a:rPr lang="en-US" sz="1400" dirty="0">
                <a:solidFill>
                  <a:schemeClr val="tx1"/>
                </a:solidFill>
              </a:rPr>
              <a:t>failure → the unit is re-offered in a new round</a:t>
            </a:r>
            <a:endParaRPr lang="en-US" sz="1400" dirty="0"/>
          </a:p>
        </p:txBody>
      </p:sp>
      <p:sp>
        <p:nvSpPr>
          <p:cNvPr id="20" name="month 0 example"/>
          <p:cNvSpPr txBox="1"/>
          <p:nvPr/>
        </p:nvSpPr>
        <p:spPr>
          <a:xfrm>
            <a:off x="5257800" y="3703320"/>
            <a:ext cx="3291840" cy="640080"/>
          </a:xfrm>
          <a:prstGeom prst="rect">
            <a:avLst/>
          </a:prstGeom>
          <a:noFill/>
          <a:ln/>
        </p:spPr>
        <p:txBody>
          <a:bodyPr wrap="square" lIns="0" tIns="0" rIns="0" bIns="0" rtlCol="0" anchor="t"/>
          <a:lstStyle/>
          <a:p>
            <a:pPr indent="0" marL="0">
              <a:buNone/>
            </a:pPr>
            <a:r>
              <a:rPr lang="en-US" sz="1300" b="1" dirty="0">
                <a:solidFill>
                  <a:schemeClr val="accent2"/>
                </a:solidFill>
              </a:rPr>
              <a:t>Month 0: </a:t>
            </a:r>
            <a:pPr indent="0" marL="0">
              <a:buNone/>
            </a:pPr>
            <a:r>
              <a:rPr lang="en-US" sz="1300" dirty="0">
                <a:solidFill>
                  <a:schemeClr val="tx1"/>
                </a:solidFill>
              </a:rPr>
              <a:t>Talawa wins, sends failure → round 2 → Padaviya gets the unit</a:t>
            </a:r>
            <a:endParaRPr lang="en-US" sz="13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Part D · Alerts and evaluation</a:t>
            </a:r>
            <a:endParaRPr lang="en-US" sz="3600" dirty="0"/>
          </a:p>
        </p:txBody>
      </p:sp>
      <p:sp>
        <p:nvSpPr>
          <p:cNvPr id="3" name="presenter"/>
          <p:cNvSpPr txBox="1"/>
          <p:nvPr/>
        </p:nvSpPr>
        <p:spPr>
          <a:xfrm>
            <a:off x="457200" y="914400"/>
            <a:ext cx="8229600" cy="292608"/>
          </a:xfrm>
          <a:prstGeom prst="rect">
            <a:avLst/>
          </a:prstGeom>
          <a:noFill/>
          <a:ln/>
        </p:spPr>
        <p:txBody>
          <a:bodyPr wrap="square" lIns="0" tIns="0" rIns="0" bIns="0" rtlCol="0" anchor="ctr"/>
          <a:lstStyle/>
          <a:p>
            <a:pPr indent="0" marL="0">
              <a:buNone/>
            </a:pPr>
            <a:r>
              <a:rPr lang="en-US" sz="1400" dirty="0">
                <a:solidFill>
                  <a:schemeClr val="accent6"/>
                </a:solidFill>
              </a:rPr>
              <a:t>Presented by  </a:t>
            </a:r>
            <a:pPr indent="0" marL="0">
              <a:buNone/>
            </a:pPr>
            <a:r>
              <a:rPr lang="en-US" sz="1400" b="1" dirty="0">
                <a:solidFill>
                  <a:schemeClr val="accent2"/>
                </a:solidFill>
              </a:rPr>
              <a:t>[Member D name]</a:t>
            </a:r>
            <a:endParaRPr lang="en-US" sz="1400" dirty="0"/>
          </a:p>
        </p:txBody>
      </p:sp>
      <p:sp>
        <p:nvSpPr>
          <p:cNvPr id="4" name="part D 1 card"/>
          <p:cNvSpPr/>
          <p:nvPr/>
        </p:nvSpPr>
        <p:spPr>
          <a:xfrm>
            <a:off x="457200" y="1371600"/>
            <a:ext cx="2560320" cy="3108960"/>
          </a:xfrm>
          <a:prstGeom prst="roundRect">
            <a:avLst>
              <a:gd name="adj" fmla="val 2857"/>
            </a:avLst>
          </a:prstGeom>
          <a:solidFill>
            <a:schemeClr val="bg2"/>
          </a:solidFill>
          <a:ln w="12700">
            <a:solidFill>
              <a:schemeClr val="bg2"/>
            </a:solidFill>
            <a:prstDash val="solid"/>
          </a:ln>
        </p:spPr>
      </p:sp>
      <p:sp>
        <p:nvSpPr>
          <p:cNvPr id="5" name="part D 1 circle"/>
          <p:cNvSpPr/>
          <p:nvPr/>
        </p:nvSpPr>
        <p:spPr>
          <a:xfrm>
            <a:off x="640080" y="1554480"/>
            <a:ext cx="548640" cy="548640"/>
          </a:xfrm>
          <a:prstGeom prst="ellipse">
            <a:avLst/>
          </a:prstGeom>
          <a:solidFill>
            <a:schemeClr val="tx2"/>
          </a:solidFill>
          <a:ln w="12700">
            <a:solidFill>
              <a:schemeClr val="tx2"/>
            </a:solidFill>
            <a:prstDash val="solid"/>
          </a:ln>
        </p:spPr>
      </p:sp>
      <p:pic>
        <p:nvPicPr>
          <p:cNvPr id="6" name="part D 1 icon" descr="preencoded.png">    </p:cNvPr>
          <p:cNvPicPr>
            <a:picLocks noChangeAspect="1"/>
          </p:cNvPicPr>
          <p:nvPr/>
        </p:nvPicPr>
        <p:blipFill>
          <a:blip r:embed="rId1"/>
          <a:stretch>
            <a:fillRect/>
          </a:stretch>
        </p:blipFill>
        <p:spPr>
          <a:xfrm>
            <a:off x="788213" y="1702613"/>
            <a:ext cx="252374" cy="252374"/>
          </a:xfrm>
          <a:prstGeom prst="rect">
            <a:avLst/>
          </a:prstGeom>
        </p:spPr>
      </p:pic>
      <p:sp>
        <p:nvSpPr>
          <p:cNvPr id="7" name="part D 1 head"/>
          <p:cNvSpPr txBox="1"/>
          <p:nvPr/>
        </p:nvSpPr>
        <p:spPr>
          <a:xfrm>
            <a:off x="1325880" y="155448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Calm alerts</a:t>
            </a:r>
            <a:endParaRPr lang="en-US" sz="1600" dirty="0"/>
          </a:p>
        </p:txBody>
      </p:sp>
      <p:sp>
        <p:nvSpPr>
          <p:cNvPr id="8" name="part D 1 list"/>
          <p:cNvSpPr txBox="1"/>
          <p:nvPr/>
        </p:nvSpPr>
        <p:spPr>
          <a:xfrm>
            <a:off x="640080" y="2286000"/>
            <a:ext cx="2240280" cy="21031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“Use an alternate source (RO-treated or piped supply) for drinking and cooking”</a:t>
            </a:r>
            <a:endParaRPr lang="en-US" sz="1300" dirty="0"/>
          </a:p>
          <a:p>
            <a:pPr marL="342900" indent="-342900">
              <a:spcAft>
                <a:spcPts val="600"/>
              </a:spcAft>
              <a:buSzPct val="100000"/>
              <a:buChar char="•"/>
            </a:pPr>
            <a:r>
              <a:rPr lang="en-US" sz="1300" dirty="0">
                <a:solidFill>
                  <a:schemeClr val="tx1"/>
                </a:solidFill>
              </a:rPr>
              <a:t>Hotspots add: screening is available at the nearest clinic</a:t>
            </a:r>
            <a:endParaRPr lang="en-US" sz="1300" dirty="0"/>
          </a:p>
          <a:p>
            <a:pPr marL="342900" indent="-342900">
              <a:spcAft>
                <a:spcPts val="600"/>
              </a:spcAft>
              <a:buSzPct val="100000"/>
              <a:buChar char="•"/>
            </a:pPr>
            <a:r>
              <a:rPr lang="en-US" sz="1300" dirty="0">
                <a:solidFill>
                  <a:schemeClr val="tx1"/>
                </a:solidFill>
              </a:rPr>
              <a:t>Never a diagnosis</a:t>
            </a:r>
            <a:endParaRPr lang="en-US" sz="1300" dirty="0"/>
          </a:p>
        </p:txBody>
      </p:sp>
      <p:sp>
        <p:nvSpPr>
          <p:cNvPr id="9" name="part D 2 card"/>
          <p:cNvSpPr/>
          <p:nvPr/>
        </p:nvSpPr>
        <p:spPr>
          <a:xfrm>
            <a:off x="3291840" y="1371600"/>
            <a:ext cx="2560320" cy="3108960"/>
          </a:xfrm>
          <a:prstGeom prst="roundRect">
            <a:avLst>
              <a:gd name="adj" fmla="val 2857"/>
            </a:avLst>
          </a:prstGeom>
          <a:solidFill>
            <a:schemeClr val="bg2"/>
          </a:solidFill>
          <a:ln w="12700">
            <a:solidFill>
              <a:schemeClr val="bg2"/>
            </a:solidFill>
            <a:prstDash val="solid"/>
          </a:ln>
        </p:spPr>
      </p:sp>
      <p:sp>
        <p:nvSpPr>
          <p:cNvPr id="10" name="part D 2 circle"/>
          <p:cNvSpPr/>
          <p:nvPr/>
        </p:nvSpPr>
        <p:spPr>
          <a:xfrm>
            <a:off x="3474720" y="1554480"/>
            <a:ext cx="548640" cy="548640"/>
          </a:xfrm>
          <a:prstGeom prst="ellipse">
            <a:avLst/>
          </a:prstGeom>
          <a:solidFill>
            <a:schemeClr val="tx2"/>
          </a:solidFill>
          <a:ln w="12700">
            <a:solidFill>
              <a:schemeClr val="tx2"/>
            </a:solidFill>
            <a:prstDash val="solid"/>
          </a:ln>
        </p:spPr>
      </p:sp>
      <p:pic>
        <p:nvPicPr>
          <p:cNvPr id="11" name="part D 2 icon" descr="preencoded.png">    </p:cNvPr>
          <p:cNvPicPr>
            <a:picLocks noChangeAspect="1"/>
          </p:cNvPicPr>
          <p:nvPr/>
        </p:nvPicPr>
        <p:blipFill>
          <a:blip r:embed="rId2"/>
          <a:stretch>
            <a:fillRect/>
          </a:stretch>
        </p:blipFill>
        <p:spPr>
          <a:xfrm>
            <a:off x="3622853" y="1702613"/>
            <a:ext cx="252374" cy="252374"/>
          </a:xfrm>
          <a:prstGeom prst="rect">
            <a:avLst/>
          </a:prstGeom>
        </p:spPr>
      </p:pic>
      <p:sp>
        <p:nvSpPr>
          <p:cNvPr id="12" name="part D 2 head"/>
          <p:cNvSpPr txBox="1"/>
          <p:nvPr/>
        </p:nvSpPr>
        <p:spPr>
          <a:xfrm>
            <a:off x="4160520" y="155448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Evaluation</a:t>
            </a:r>
            <a:endParaRPr lang="en-US" sz="1600" dirty="0"/>
          </a:p>
        </p:txBody>
      </p:sp>
      <p:sp>
        <p:nvSpPr>
          <p:cNvPr id="13" name="part D 2 list"/>
          <p:cNvSpPr txBox="1"/>
          <p:nvPr/>
        </p:nvSpPr>
        <p:spPr>
          <a:xfrm>
            <a:off x="3474720" y="2286000"/>
            <a:ext cx="2240280" cy="21031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Allocation vs equal split and first-come</a:t>
            </a:r>
            <a:endParaRPr lang="en-US" sz="1300" dirty="0"/>
          </a:p>
          <a:p>
            <a:pPr marL="342900" indent="-342900">
              <a:spcAft>
                <a:spcPts val="600"/>
              </a:spcAft>
              <a:buSzPct val="100000"/>
              <a:buChar char="•"/>
            </a:pPr>
            <a:r>
              <a:rPr lang="en-US" sz="1300" dirty="0">
                <a:solidFill>
                  <a:schemeClr val="tx1"/>
                </a:solidFill>
              </a:rPr>
              <a:t>Alert latency</a:t>
            </a:r>
            <a:endParaRPr lang="en-US" sz="1300" dirty="0"/>
          </a:p>
          <a:p>
            <a:pPr marL="342900" indent="-342900">
              <a:spcAft>
                <a:spcPts val="600"/>
              </a:spcAft>
              <a:buSzPct val="100000"/>
              <a:buChar char="•"/>
            </a:pPr>
            <a:r>
              <a:rPr lang="en-US" sz="1300" dirty="0">
                <a:solidFill>
                  <a:schemeClr val="tx1"/>
                </a:solidFill>
              </a:rPr>
              <a:t>Negotiation rounds</a:t>
            </a:r>
            <a:endParaRPr lang="en-US" sz="1300" dirty="0"/>
          </a:p>
          <a:p>
            <a:pPr marL="342900" indent="-342900">
              <a:spcAft>
                <a:spcPts val="600"/>
              </a:spcAft>
              <a:buSzPct val="100000"/>
              <a:buChar char="•"/>
            </a:pPr>
            <a:r>
              <a:rPr lang="en-US" sz="1300" dirty="0">
                <a:solidFill>
                  <a:schemeClr val="tx1"/>
                </a:solidFill>
              </a:rPr>
              <a:t>Risk alignment (no sourced reference yet)</a:t>
            </a:r>
            <a:endParaRPr lang="en-US" sz="1300" dirty="0"/>
          </a:p>
        </p:txBody>
      </p:sp>
      <p:sp>
        <p:nvSpPr>
          <p:cNvPr id="14" name="part D 3 card"/>
          <p:cNvSpPr/>
          <p:nvPr/>
        </p:nvSpPr>
        <p:spPr>
          <a:xfrm>
            <a:off x="6126480" y="1371600"/>
            <a:ext cx="2560320" cy="3108960"/>
          </a:xfrm>
          <a:prstGeom prst="roundRect">
            <a:avLst>
              <a:gd name="adj" fmla="val 2857"/>
            </a:avLst>
          </a:prstGeom>
          <a:solidFill>
            <a:schemeClr val="bg2"/>
          </a:solidFill>
          <a:ln w="12700">
            <a:solidFill>
              <a:schemeClr val="bg2"/>
            </a:solidFill>
            <a:prstDash val="solid"/>
          </a:ln>
        </p:spPr>
      </p:sp>
      <p:sp>
        <p:nvSpPr>
          <p:cNvPr id="15" name="part D 3 circle"/>
          <p:cNvSpPr/>
          <p:nvPr/>
        </p:nvSpPr>
        <p:spPr>
          <a:xfrm>
            <a:off x="6309360" y="1554480"/>
            <a:ext cx="548640" cy="548640"/>
          </a:xfrm>
          <a:prstGeom prst="ellipse">
            <a:avLst/>
          </a:prstGeom>
          <a:solidFill>
            <a:schemeClr val="tx2"/>
          </a:solidFill>
          <a:ln w="12700">
            <a:solidFill>
              <a:schemeClr val="tx2"/>
            </a:solidFill>
            <a:prstDash val="solid"/>
          </a:ln>
        </p:spPr>
      </p:sp>
      <p:pic>
        <p:nvPicPr>
          <p:cNvPr id="16" name="part D 3 icon" descr="preencoded.png">    </p:cNvPr>
          <p:cNvPicPr>
            <a:picLocks noChangeAspect="1"/>
          </p:cNvPicPr>
          <p:nvPr/>
        </p:nvPicPr>
        <p:blipFill>
          <a:blip r:embed="rId3"/>
          <a:stretch>
            <a:fillRect/>
          </a:stretch>
        </p:blipFill>
        <p:spPr>
          <a:xfrm>
            <a:off x="6457493" y="1702613"/>
            <a:ext cx="252374" cy="252374"/>
          </a:xfrm>
          <a:prstGeom prst="rect">
            <a:avLst/>
          </a:prstGeom>
        </p:spPr>
      </p:pic>
      <p:sp>
        <p:nvSpPr>
          <p:cNvPr id="17" name="part D 3 head"/>
          <p:cNvSpPr txBox="1"/>
          <p:nvPr/>
        </p:nvSpPr>
        <p:spPr>
          <a:xfrm>
            <a:off x="6995160" y="1554480"/>
            <a:ext cx="1600200" cy="548640"/>
          </a:xfrm>
          <a:prstGeom prst="rect">
            <a:avLst/>
          </a:prstGeom>
          <a:noFill/>
          <a:ln/>
        </p:spPr>
        <p:txBody>
          <a:bodyPr wrap="square" lIns="0" tIns="0" rIns="0" bIns="0" rtlCol="0" anchor="ctr"/>
          <a:lstStyle/>
          <a:p>
            <a:pPr indent="0" marL="0">
              <a:buNone/>
            </a:pPr>
            <a:r>
              <a:rPr lang="en-US" sz="1600" b="1" dirty="0">
                <a:solidFill>
                  <a:schemeClr val="tx2"/>
                </a:solidFill>
              </a:rPr>
              <a:t>Dashboard</a:t>
            </a:r>
            <a:endParaRPr lang="en-US" sz="1600" dirty="0"/>
          </a:p>
        </p:txBody>
      </p:sp>
      <p:sp>
        <p:nvSpPr>
          <p:cNvPr id="18" name="part D 3 list"/>
          <p:cNvSpPr txBox="1"/>
          <p:nvPr/>
        </p:nvSpPr>
        <p:spPr>
          <a:xfrm>
            <a:off x="6309360" y="2286000"/>
            <a:ext cx="2240280" cy="21031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Streamlit + Folium risk map</a:t>
            </a:r>
            <a:endParaRPr lang="en-US" sz="1300" dirty="0"/>
          </a:p>
          <a:p>
            <a:pPr marL="342900" indent="-342900">
              <a:spcAft>
                <a:spcPts val="600"/>
              </a:spcAft>
              <a:buSzPct val="100000"/>
              <a:buChar char="•"/>
            </a:pPr>
            <a:r>
              <a:rPr lang="en-US" sz="1300" dirty="0">
                <a:solidFill>
                  <a:schemeClr val="tx1"/>
                </a:solidFill>
              </a:rPr>
              <a:t>Allocations and comparisons</a:t>
            </a:r>
            <a:endParaRPr lang="en-US" sz="1300" dirty="0"/>
          </a:p>
          <a:p>
            <a:pPr marL="342900" indent="-342900">
              <a:spcAft>
                <a:spcPts val="600"/>
              </a:spcAft>
              <a:buSzPct val="100000"/>
              <a:buChar char="•"/>
            </a:pPr>
            <a:r>
              <a:rPr lang="en-US" sz="1300" dirty="0">
                <a:solidFill>
                  <a:schemeClr val="tx1"/>
                </a:solidFill>
              </a:rPr>
              <a:t>Agent monitor, live coordination, simulation lab</a:t>
            </a:r>
            <a:endParaRPr lang="en-US" sz="13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Results · Allocation</a:t>
            </a:r>
            <a:endParaRPr lang="en-US" sz="3600" dirty="0"/>
          </a:p>
        </p:txBody>
      </p:sp>
      <p:graphicFrame>
        <p:nvGraphicFramePr>
          <p:cNvPr id="3" name="RO chart" descr=""/>
          <p:cNvGraphicFramePr/>
          <p:nvPr/>
        </p:nvGraphicFramePr>
        <p:xfrm>
          <a:off x="457200" y="1097280"/>
          <a:ext cx="3977640" cy="25603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bowser chart" descr=""/>
          <p:cNvGraphicFramePr/>
          <p:nvPr/>
        </p:nvGraphicFramePr>
        <p:xfrm>
          <a:off x="4709160" y="1097280"/>
          <a:ext cx="3977640" cy="2560320"/>
        </p:xfrm>
        <a:graphic xmlns:a="http://schemas.openxmlformats.org/drawingml/2006/main">
          <a:graphicData uri="http://schemas.openxmlformats.org/drawingml/2006/chart">
            <c:chart xmlns:c="http://schemas.openxmlformats.org/drawingml/2006/chart" r:id="rId2"/>
          </a:graphicData>
        </a:graphic>
      </p:graphicFrame>
      <p:sp>
        <p:nvSpPr>
          <p:cNvPr id="5" name="results note"/>
          <p:cNvSpPr/>
          <p:nvPr/>
        </p:nvSpPr>
        <p:spPr>
          <a:xfrm>
            <a:off x="457200" y="3749040"/>
            <a:ext cx="8229600" cy="822960"/>
          </a:xfrm>
          <a:prstGeom prst="roundRect">
            <a:avLst>
              <a:gd name="adj" fmla="val 8889"/>
            </a:avLst>
          </a:prstGeom>
          <a:solidFill>
            <a:schemeClr val="bg2"/>
          </a:solidFill>
          <a:ln w="12700">
            <a:solidFill>
              <a:schemeClr val="bg2"/>
            </a:solidFill>
            <a:prstDash val="solid"/>
          </a:ln>
        </p:spPr>
      </p:sp>
      <p:sp>
        <p:nvSpPr>
          <p:cNvPr id="6" name="results note text"/>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300" b="1" dirty="0">
                <a:solidFill>
                  <a:schemeClr val="tx2"/>
                </a:solidFill>
              </a:rPr>
              <a:t>Risk-weighted population served over 12 months (higher is better). </a:t>
            </a:r>
            <a:pPr indent="0" marL="0">
              <a:buNone/>
            </a:pPr>
            <a:r>
              <a:rPr lang="en-US" sz="1300" dirty="0">
                <a:solidFill>
                  <a:schemeClr val="tx1"/>
                </a:solidFill>
              </a:rPr>
              <a:t>Contract Net beats equal split on both. For durable RO units it ties first-come, because every needy village is served in the end; Contract Net serves the highest need first.</a:t>
            </a:r>
            <a:endParaRPr lang="en-US" sz="13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Results · System run</a:t>
            </a:r>
            <a:endParaRPr lang="en-US" sz="3600" dirty="0"/>
          </a:p>
        </p:txBody>
      </p:sp>
      <p:sp>
        <p:nvSpPr>
          <p:cNvPr id="3" name="stat 1"/>
          <p:cNvSpPr/>
          <p:nvPr/>
        </p:nvSpPr>
        <p:spPr>
          <a:xfrm>
            <a:off x="457200" y="1188720"/>
            <a:ext cx="1920240" cy="1508760"/>
          </a:xfrm>
          <a:prstGeom prst="roundRect">
            <a:avLst>
              <a:gd name="adj" fmla="val 4848"/>
            </a:avLst>
          </a:prstGeom>
          <a:solidFill>
            <a:schemeClr val="bg2"/>
          </a:solidFill>
          <a:ln w="12700">
            <a:solidFill>
              <a:schemeClr val="bg2"/>
            </a:solidFill>
            <a:prstDash val="solid"/>
          </a:ln>
        </p:spPr>
      </p:sp>
      <p:sp>
        <p:nvSpPr>
          <p:cNvPr id="4" name="stat 1 value"/>
          <p:cNvSpPr txBox="1"/>
          <p:nvPr/>
        </p:nvSpPr>
        <p:spPr>
          <a:xfrm>
            <a:off x="457200" y="1280160"/>
            <a:ext cx="1920240" cy="777240"/>
          </a:xfrm>
          <a:prstGeom prst="rect">
            <a:avLst/>
          </a:prstGeom>
          <a:noFill/>
          <a:ln/>
        </p:spPr>
        <p:txBody>
          <a:bodyPr wrap="square" lIns="0" tIns="0" rIns="0" bIns="0"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31</a:t>
            </a:r>
            <a:endParaRPr lang="en-US" sz="3600" dirty="0"/>
          </a:p>
        </p:txBody>
      </p:sp>
      <p:sp>
        <p:nvSpPr>
          <p:cNvPr id="5" name="stat 1 label"/>
          <p:cNvSpPr txBox="1"/>
          <p:nvPr/>
        </p:nvSpPr>
        <p:spPr>
          <a:xfrm>
            <a:off x="548640" y="2103120"/>
            <a:ext cx="1737360" cy="502920"/>
          </a:xfrm>
          <a:prstGeom prst="rect">
            <a:avLst/>
          </a:prstGeom>
          <a:noFill/>
          <a:ln/>
        </p:spPr>
        <p:txBody>
          <a:bodyPr wrap="square" lIns="0" tIns="0" rIns="0" bIns="0" rtlCol="0" anchor="t"/>
          <a:lstStyle/>
          <a:p>
            <a:pPr algn="ctr" indent="0" marL="0">
              <a:buNone/>
            </a:pPr>
            <a:r>
              <a:rPr lang="en-US" sz="1200" dirty="0">
                <a:solidFill>
                  <a:schemeClr val="tx1"/>
                </a:solidFill>
              </a:rPr>
              <a:t>agents running</a:t>
            </a:r>
            <a:endParaRPr lang="en-US" sz="1200" dirty="0"/>
          </a:p>
        </p:txBody>
      </p:sp>
      <p:sp>
        <p:nvSpPr>
          <p:cNvPr id="6" name="stat 2"/>
          <p:cNvSpPr/>
          <p:nvPr/>
        </p:nvSpPr>
        <p:spPr>
          <a:xfrm>
            <a:off x="2560320" y="1188720"/>
            <a:ext cx="1920240" cy="1508760"/>
          </a:xfrm>
          <a:prstGeom prst="roundRect">
            <a:avLst>
              <a:gd name="adj" fmla="val 4848"/>
            </a:avLst>
          </a:prstGeom>
          <a:solidFill>
            <a:schemeClr val="bg2"/>
          </a:solidFill>
          <a:ln w="12700">
            <a:solidFill>
              <a:schemeClr val="bg2"/>
            </a:solidFill>
            <a:prstDash val="solid"/>
          </a:ln>
        </p:spPr>
      </p:sp>
      <p:sp>
        <p:nvSpPr>
          <p:cNvPr id="7" name="stat 2 value"/>
          <p:cNvSpPr txBox="1"/>
          <p:nvPr/>
        </p:nvSpPr>
        <p:spPr>
          <a:xfrm>
            <a:off x="2560320" y="1280160"/>
            <a:ext cx="1920240" cy="777240"/>
          </a:xfrm>
          <a:prstGeom prst="rect">
            <a:avLst/>
          </a:prstGeom>
          <a:noFill/>
          <a:ln/>
        </p:spPr>
        <p:txBody>
          <a:bodyPr wrap="square" lIns="0" tIns="0" rIns="0" bIns="0"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1,131</a:t>
            </a:r>
            <a:endParaRPr lang="en-US" sz="3600" dirty="0"/>
          </a:p>
        </p:txBody>
      </p:sp>
      <p:sp>
        <p:nvSpPr>
          <p:cNvPr id="8" name="stat 2 label"/>
          <p:cNvSpPr txBox="1"/>
          <p:nvPr/>
        </p:nvSpPr>
        <p:spPr>
          <a:xfrm>
            <a:off x="2651760" y="2103120"/>
            <a:ext cx="1737360" cy="502920"/>
          </a:xfrm>
          <a:prstGeom prst="rect">
            <a:avLst/>
          </a:prstGeom>
          <a:noFill/>
          <a:ln/>
        </p:spPr>
        <p:txBody>
          <a:bodyPr wrap="square" lIns="0" tIns="0" rIns="0" bIns="0" rtlCol="0" anchor="t"/>
          <a:lstStyle/>
          <a:p>
            <a:pPr algn="ctr" indent="0" marL="0">
              <a:buNone/>
            </a:pPr>
            <a:r>
              <a:rPr lang="en-US" sz="1200" dirty="0">
                <a:solidFill>
                  <a:schemeClr val="tx1"/>
                </a:solidFill>
              </a:rPr>
              <a:t>messages sent and logged</a:t>
            </a:r>
            <a:endParaRPr lang="en-US" sz="1200" dirty="0"/>
          </a:p>
        </p:txBody>
      </p:sp>
      <p:sp>
        <p:nvSpPr>
          <p:cNvPr id="9" name="stat 3"/>
          <p:cNvSpPr/>
          <p:nvPr/>
        </p:nvSpPr>
        <p:spPr>
          <a:xfrm>
            <a:off x="4663440" y="1188720"/>
            <a:ext cx="1920240" cy="1508760"/>
          </a:xfrm>
          <a:prstGeom prst="roundRect">
            <a:avLst>
              <a:gd name="adj" fmla="val 4848"/>
            </a:avLst>
          </a:prstGeom>
          <a:solidFill>
            <a:schemeClr val="bg2"/>
          </a:solidFill>
          <a:ln w="12700">
            <a:solidFill>
              <a:schemeClr val="bg2"/>
            </a:solidFill>
            <a:prstDash val="solid"/>
          </a:ln>
        </p:spPr>
      </p:sp>
      <p:sp>
        <p:nvSpPr>
          <p:cNvPr id="10" name="stat 3 value"/>
          <p:cNvSpPr txBox="1"/>
          <p:nvPr/>
        </p:nvSpPr>
        <p:spPr>
          <a:xfrm>
            <a:off x="4663440" y="1280160"/>
            <a:ext cx="1920240" cy="777240"/>
          </a:xfrm>
          <a:prstGeom prst="rect">
            <a:avLst/>
          </a:prstGeom>
          <a:noFill/>
          <a:ln/>
        </p:spPr>
        <p:txBody>
          <a:bodyPr wrap="square" lIns="0" tIns="0" rIns="0" bIns="0" rtlCol="0" anchor="ctr"/>
          <a:lstStyle/>
          <a:p>
            <a:pPr algn="ctr" indent="0" marL="0">
              <a:buNone/>
            </a:pPr>
            <a:r>
              <a:rPr lang="en-US" sz="3600" b="1" dirty="0">
                <a:solidFill>
                  <a:schemeClr val="accent3"/>
                </a:solidFill>
                <a:latin typeface="Cambria" pitchFamily="34" charset="0"/>
                <a:ea typeface="Cambria" pitchFamily="34" charset="-122"/>
                <a:cs typeface="Cambria" pitchFamily="34" charset="-120"/>
              </a:rPr>
              <a:t>0</a:t>
            </a:r>
            <a:endParaRPr lang="en-US" sz="3600" dirty="0"/>
          </a:p>
        </p:txBody>
      </p:sp>
      <p:sp>
        <p:nvSpPr>
          <p:cNvPr id="11" name="stat 3 label"/>
          <p:cNvSpPr txBox="1"/>
          <p:nvPr/>
        </p:nvSpPr>
        <p:spPr>
          <a:xfrm>
            <a:off x="4754880" y="2103120"/>
            <a:ext cx="1737360" cy="502920"/>
          </a:xfrm>
          <a:prstGeom prst="rect">
            <a:avLst/>
          </a:prstGeom>
          <a:noFill/>
          <a:ln/>
        </p:spPr>
        <p:txBody>
          <a:bodyPr wrap="square" lIns="0" tIns="0" rIns="0" bIns="0" rtlCol="0" anchor="t"/>
          <a:lstStyle/>
          <a:p>
            <a:pPr algn="ctr" indent="0" marL="0">
              <a:buNone/>
            </a:pPr>
            <a:r>
              <a:rPr lang="en-US" sz="1200" dirty="0">
                <a:solidFill>
                  <a:schemeClr val="tx1"/>
                </a:solidFill>
              </a:rPr>
              <a:t>failures · run completed</a:t>
            </a:r>
            <a:endParaRPr lang="en-US" sz="1200" dirty="0"/>
          </a:p>
        </p:txBody>
      </p:sp>
      <p:sp>
        <p:nvSpPr>
          <p:cNvPr id="12" name="stat 4"/>
          <p:cNvSpPr/>
          <p:nvPr/>
        </p:nvSpPr>
        <p:spPr>
          <a:xfrm>
            <a:off x="6766560" y="1188720"/>
            <a:ext cx="1920240" cy="1508760"/>
          </a:xfrm>
          <a:prstGeom prst="roundRect">
            <a:avLst>
              <a:gd name="adj" fmla="val 4848"/>
            </a:avLst>
          </a:prstGeom>
          <a:solidFill>
            <a:schemeClr val="bg2"/>
          </a:solidFill>
          <a:ln w="12700">
            <a:solidFill>
              <a:schemeClr val="bg2"/>
            </a:solidFill>
            <a:prstDash val="solid"/>
          </a:ln>
        </p:spPr>
      </p:sp>
      <p:sp>
        <p:nvSpPr>
          <p:cNvPr id="13" name="stat 4 value"/>
          <p:cNvSpPr txBox="1"/>
          <p:nvPr/>
        </p:nvSpPr>
        <p:spPr>
          <a:xfrm>
            <a:off x="6766560" y="1280160"/>
            <a:ext cx="1920240" cy="777240"/>
          </a:xfrm>
          <a:prstGeom prst="rect">
            <a:avLst/>
          </a:prstGeom>
          <a:noFill/>
          <a:ln/>
        </p:spPr>
        <p:txBody>
          <a:bodyPr wrap="square" lIns="0" tIns="0" rIns="0" bIns="0"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0.36 s</a:t>
            </a:r>
            <a:endParaRPr lang="en-US" sz="3600" dirty="0"/>
          </a:p>
        </p:txBody>
      </p:sp>
      <p:sp>
        <p:nvSpPr>
          <p:cNvPr id="14" name="stat 4 label"/>
          <p:cNvSpPr txBox="1"/>
          <p:nvPr/>
        </p:nvSpPr>
        <p:spPr>
          <a:xfrm>
            <a:off x="6858000" y="2103120"/>
            <a:ext cx="1737360" cy="502920"/>
          </a:xfrm>
          <a:prstGeom prst="rect">
            <a:avLst/>
          </a:prstGeom>
          <a:noFill/>
          <a:ln/>
        </p:spPr>
        <p:txBody>
          <a:bodyPr wrap="square" lIns="0" tIns="0" rIns="0" bIns="0" rtlCol="0" anchor="t"/>
          <a:lstStyle/>
          <a:p>
            <a:pPr algn="ctr" indent="0" marL="0">
              <a:buNone/>
            </a:pPr>
            <a:r>
              <a:rPr lang="en-US" sz="1200" dirty="0">
                <a:solidFill>
                  <a:schemeClr val="tx1"/>
                </a:solidFill>
              </a:rPr>
              <a:t>mean alert latency</a:t>
            </a:r>
            <a:endParaRPr lang="en-US" sz="1200" dirty="0"/>
          </a:p>
        </p:txBody>
      </p:sp>
      <p:sp>
        <p:nvSpPr>
          <p:cNvPr id="15" name="chips heading"/>
          <p:cNvSpPr txBox="1"/>
          <p:nvPr/>
        </p:nvSpPr>
        <p:spPr>
          <a:xfrm>
            <a:off x="457200" y="2880360"/>
            <a:ext cx="8229600" cy="320040"/>
          </a:xfrm>
          <a:prstGeom prst="rect">
            <a:avLst/>
          </a:prstGeom>
          <a:noFill/>
          <a:ln/>
        </p:spPr>
        <p:txBody>
          <a:bodyPr wrap="square" lIns="0" tIns="0" rIns="0" bIns="0" rtlCol="0" anchor="ctr"/>
          <a:lstStyle/>
          <a:p>
            <a:pPr indent="0" marL="0">
              <a:buNone/>
            </a:pPr>
            <a:r>
              <a:rPr lang="en-US" sz="1400" b="1" dirty="0">
                <a:solidFill>
                  <a:schemeClr val="tx2"/>
                </a:solidFill>
              </a:rPr>
              <a:t>All seven FIPA performatives appear in the message log</a:t>
            </a:r>
            <a:endParaRPr lang="en-US" sz="1400" dirty="0"/>
          </a:p>
        </p:txBody>
      </p:sp>
      <p:sp>
        <p:nvSpPr>
          <p:cNvPr id="16" name="chip cfp"/>
          <p:cNvSpPr/>
          <p:nvPr/>
        </p:nvSpPr>
        <p:spPr>
          <a:xfrm>
            <a:off x="457200" y="3291840"/>
            <a:ext cx="1078992" cy="566928"/>
          </a:xfrm>
          <a:prstGeom prst="roundRect">
            <a:avLst>
              <a:gd name="adj" fmla="val 12903"/>
            </a:avLst>
          </a:prstGeom>
          <a:solidFill>
            <a:schemeClr val="bg2"/>
          </a:solidFill>
          <a:ln w="12700">
            <a:solidFill>
              <a:schemeClr val="bg2"/>
            </a:solidFill>
            <a:prstDash val="solid"/>
          </a:ln>
        </p:spPr>
      </p:sp>
      <p:sp>
        <p:nvSpPr>
          <p:cNvPr id="17" name="chip cfp text"/>
          <p:cNvSpPr txBox="1"/>
          <p:nvPr/>
        </p:nvSpPr>
        <p:spPr>
          <a:xfrm>
            <a:off x="457200" y="3291840"/>
            <a:ext cx="1078992" cy="566928"/>
          </a:xfrm>
          <a:prstGeom prst="rect">
            <a:avLst/>
          </a:prstGeom>
          <a:noFill/>
          <a:ln/>
        </p:spPr>
        <p:txBody>
          <a:bodyPr wrap="square" lIns="0" tIns="0" rIns="0" bIns="0" rtlCol="0" anchor="ctr"/>
          <a:lstStyle/>
          <a:p>
            <a:pPr algn="ctr" indent="0" marL="0">
              <a:buNone/>
            </a:pPr>
            <a:r>
              <a:rPr lang="en-US" sz="1200" b="1" dirty="0">
                <a:solidFill>
                  <a:schemeClr val="tx2"/>
                </a:solidFill>
              </a:rPr>
              <a:t>cfp</a:t>
            </a:r>
            <a:endParaRPr lang="en-US" sz="1200" dirty="0"/>
          </a:p>
          <a:p>
            <a:pPr algn="ctr" indent="0" marL="0">
              <a:buNone/>
            </a:pPr>
            <a:r>
              <a:rPr lang="en-US" sz="1200" dirty="0">
                <a:solidFill>
                  <a:schemeClr val="tx2"/>
                </a:solidFill>
              </a:rPr>
              <a:t>143</a:t>
            </a:r>
            <a:endParaRPr lang="en-US" sz="1200" dirty="0"/>
          </a:p>
        </p:txBody>
      </p:sp>
      <p:sp>
        <p:nvSpPr>
          <p:cNvPr id="18" name="chip propose"/>
          <p:cNvSpPr/>
          <p:nvPr/>
        </p:nvSpPr>
        <p:spPr>
          <a:xfrm>
            <a:off x="1645920" y="3291840"/>
            <a:ext cx="1078992" cy="566928"/>
          </a:xfrm>
          <a:prstGeom prst="roundRect">
            <a:avLst>
              <a:gd name="adj" fmla="val 12903"/>
            </a:avLst>
          </a:prstGeom>
          <a:solidFill>
            <a:schemeClr val="bg2"/>
          </a:solidFill>
          <a:ln w="12700">
            <a:solidFill>
              <a:schemeClr val="bg2"/>
            </a:solidFill>
            <a:prstDash val="solid"/>
          </a:ln>
        </p:spPr>
      </p:sp>
      <p:sp>
        <p:nvSpPr>
          <p:cNvPr id="19" name="chip propose text"/>
          <p:cNvSpPr txBox="1"/>
          <p:nvPr/>
        </p:nvSpPr>
        <p:spPr>
          <a:xfrm>
            <a:off x="1645920" y="3291840"/>
            <a:ext cx="1078992" cy="566928"/>
          </a:xfrm>
          <a:prstGeom prst="rect">
            <a:avLst/>
          </a:prstGeom>
          <a:noFill/>
          <a:ln/>
        </p:spPr>
        <p:txBody>
          <a:bodyPr wrap="square" lIns="0" tIns="0" rIns="0" bIns="0" rtlCol="0" anchor="ctr"/>
          <a:lstStyle/>
          <a:p>
            <a:pPr algn="ctr" indent="0" marL="0">
              <a:buNone/>
            </a:pPr>
            <a:r>
              <a:rPr lang="en-US" sz="1200" b="1" dirty="0">
                <a:solidFill>
                  <a:schemeClr val="tx2"/>
                </a:solidFill>
              </a:rPr>
              <a:t>propose</a:t>
            </a:r>
            <a:endParaRPr lang="en-US" sz="1200" dirty="0"/>
          </a:p>
          <a:p>
            <a:pPr algn="ctr" indent="0" marL="0">
              <a:buNone/>
            </a:pPr>
            <a:r>
              <a:rPr lang="en-US" sz="1200" dirty="0">
                <a:solidFill>
                  <a:schemeClr val="tx2"/>
                </a:solidFill>
              </a:rPr>
              <a:t>7</a:t>
            </a:r>
            <a:endParaRPr lang="en-US" sz="1200" dirty="0"/>
          </a:p>
        </p:txBody>
      </p:sp>
      <p:sp>
        <p:nvSpPr>
          <p:cNvPr id="20" name="chip refuse"/>
          <p:cNvSpPr/>
          <p:nvPr/>
        </p:nvSpPr>
        <p:spPr>
          <a:xfrm>
            <a:off x="2834640" y="3291840"/>
            <a:ext cx="1078992" cy="566928"/>
          </a:xfrm>
          <a:prstGeom prst="roundRect">
            <a:avLst>
              <a:gd name="adj" fmla="val 12903"/>
            </a:avLst>
          </a:prstGeom>
          <a:solidFill>
            <a:schemeClr val="bg2"/>
          </a:solidFill>
          <a:ln w="12700">
            <a:solidFill>
              <a:schemeClr val="bg2"/>
            </a:solidFill>
            <a:prstDash val="solid"/>
          </a:ln>
        </p:spPr>
      </p:sp>
      <p:sp>
        <p:nvSpPr>
          <p:cNvPr id="21" name="chip refuse text"/>
          <p:cNvSpPr txBox="1"/>
          <p:nvPr/>
        </p:nvSpPr>
        <p:spPr>
          <a:xfrm>
            <a:off x="2834640" y="3291840"/>
            <a:ext cx="1078992" cy="566928"/>
          </a:xfrm>
          <a:prstGeom prst="rect">
            <a:avLst/>
          </a:prstGeom>
          <a:noFill/>
          <a:ln/>
        </p:spPr>
        <p:txBody>
          <a:bodyPr wrap="square" lIns="0" tIns="0" rIns="0" bIns="0" rtlCol="0" anchor="ctr"/>
          <a:lstStyle/>
          <a:p>
            <a:pPr algn="ctr" indent="0" marL="0">
              <a:buNone/>
            </a:pPr>
            <a:r>
              <a:rPr lang="en-US" sz="1200" b="1" dirty="0">
                <a:solidFill>
                  <a:schemeClr val="tx2"/>
                </a:solidFill>
              </a:rPr>
              <a:t>refuse</a:t>
            </a:r>
            <a:endParaRPr lang="en-US" sz="1200" dirty="0"/>
          </a:p>
          <a:p>
            <a:pPr algn="ctr" indent="0" marL="0">
              <a:buNone/>
            </a:pPr>
            <a:r>
              <a:rPr lang="en-US" sz="1200" dirty="0">
                <a:solidFill>
                  <a:schemeClr val="tx2"/>
                </a:solidFill>
              </a:rPr>
              <a:t>136</a:t>
            </a:r>
            <a:endParaRPr lang="en-US" sz="1200" dirty="0"/>
          </a:p>
        </p:txBody>
      </p:sp>
      <p:sp>
        <p:nvSpPr>
          <p:cNvPr id="22" name="chip accept"/>
          <p:cNvSpPr/>
          <p:nvPr/>
        </p:nvSpPr>
        <p:spPr>
          <a:xfrm>
            <a:off x="4023360" y="3291840"/>
            <a:ext cx="1078992" cy="566928"/>
          </a:xfrm>
          <a:prstGeom prst="roundRect">
            <a:avLst>
              <a:gd name="adj" fmla="val 12903"/>
            </a:avLst>
          </a:prstGeom>
          <a:solidFill>
            <a:schemeClr val="bg2"/>
          </a:solidFill>
          <a:ln w="12700">
            <a:solidFill>
              <a:schemeClr val="bg2"/>
            </a:solidFill>
            <a:prstDash val="solid"/>
          </a:ln>
        </p:spPr>
      </p:sp>
      <p:sp>
        <p:nvSpPr>
          <p:cNvPr id="23" name="chip accept text"/>
          <p:cNvSpPr txBox="1"/>
          <p:nvPr/>
        </p:nvSpPr>
        <p:spPr>
          <a:xfrm>
            <a:off x="4023360" y="3291840"/>
            <a:ext cx="1078992" cy="566928"/>
          </a:xfrm>
          <a:prstGeom prst="rect">
            <a:avLst/>
          </a:prstGeom>
          <a:noFill/>
          <a:ln/>
        </p:spPr>
        <p:txBody>
          <a:bodyPr wrap="square" lIns="0" tIns="0" rIns="0" bIns="0" rtlCol="0" anchor="ctr"/>
          <a:lstStyle/>
          <a:p>
            <a:pPr algn="ctr" indent="0" marL="0">
              <a:buNone/>
            </a:pPr>
            <a:r>
              <a:rPr lang="en-US" sz="1200" b="1" dirty="0">
                <a:solidFill>
                  <a:schemeClr val="tx2"/>
                </a:solidFill>
              </a:rPr>
              <a:t>accept</a:t>
            </a:r>
            <a:endParaRPr lang="en-US" sz="1200" dirty="0"/>
          </a:p>
          <a:p>
            <a:pPr algn="ctr" indent="0" marL="0">
              <a:buNone/>
            </a:pPr>
            <a:r>
              <a:rPr lang="en-US" sz="1200" dirty="0">
                <a:solidFill>
                  <a:schemeClr val="tx2"/>
                </a:solidFill>
              </a:rPr>
              <a:t>6</a:t>
            </a:r>
            <a:endParaRPr lang="en-US" sz="1200" dirty="0"/>
          </a:p>
        </p:txBody>
      </p:sp>
      <p:sp>
        <p:nvSpPr>
          <p:cNvPr id="24" name="chip reject"/>
          <p:cNvSpPr/>
          <p:nvPr/>
        </p:nvSpPr>
        <p:spPr>
          <a:xfrm>
            <a:off x="5212080" y="3291840"/>
            <a:ext cx="1078992" cy="566928"/>
          </a:xfrm>
          <a:prstGeom prst="roundRect">
            <a:avLst>
              <a:gd name="adj" fmla="val 12903"/>
            </a:avLst>
          </a:prstGeom>
          <a:solidFill>
            <a:schemeClr val="bg2"/>
          </a:solidFill>
          <a:ln w="12700">
            <a:solidFill>
              <a:schemeClr val="bg2"/>
            </a:solidFill>
            <a:prstDash val="solid"/>
          </a:ln>
        </p:spPr>
      </p:sp>
      <p:sp>
        <p:nvSpPr>
          <p:cNvPr id="25" name="chip reject text"/>
          <p:cNvSpPr txBox="1"/>
          <p:nvPr/>
        </p:nvSpPr>
        <p:spPr>
          <a:xfrm>
            <a:off x="5212080" y="3291840"/>
            <a:ext cx="1078992" cy="566928"/>
          </a:xfrm>
          <a:prstGeom prst="rect">
            <a:avLst/>
          </a:prstGeom>
          <a:noFill/>
          <a:ln/>
        </p:spPr>
        <p:txBody>
          <a:bodyPr wrap="square" lIns="0" tIns="0" rIns="0" bIns="0" rtlCol="0" anchor="ctr"/>
          <a:lstStyle/>
          <a:p>
            <a:pPr algn="ctr" indent="0" marL="0">
              <a:buNone/>
            </a:pPr>
            <a:r>
              <a:rPr lang="en-US" sz="1200" b="1" dirty="0">
                <a:solidFill>
                  <a:schemeClr val="tx2"/>
                </a:solidFill>
              </a:rPr>
              <a:t>reject</a:t>
            </a:r>
            <a:endParaRPr lang="en-US" sz="1200" dirty="0"/>
          </a:p>
          <a:p>
            <a:pPr algn="ctr" indent="0" marL="0">
              <a:buNone/>
            </a:pPr>
            <a:r>
              <a:rPr lang="en-US" sz="1200" dirty="0">
                <a:solidFill>
                  <a:schemeClr val="tx2"/>
                </a:solidFill>
              </a:rPr>
              <a:t>1</a:t>
            </a:r>
            <a:endParaRPr lang="en-US" sz="1200" dirty="0"/>
          </a:p>
        </p:txBody>
      </p:sp>
      <p:sp>
        <p:nvSpPr>
          <p:cNvPr id="26" name="chip inform"/>
          <p:cNvSpPr/>
          <p:nvPr/>
        </p:nvSpPr>
        <p:spPr>
          <a:xfrm>
            <a:off x="6400800" y="3291840"/>
            <a:ext cx="1078992" cy="566928"/>
          </a:xfrm>
          <a:prstGeom prst="roundRect">
            <a:avLst>
              <a:gd name="adj" fmla="val 12903"/>
            </a:avLst>
          </a:prstGeom>
          <a:solidFill>
            <a:schemeClr val="bg2"/>
          </a:solidFill>
          <a:ln w="12700">
            <a:solidFill>
              <a:schemeClr val="bg2"/>
            </a:solidFill>
            <a:prstDash val="solid"/>
          </a:ln>
        </p:spPr>
      </p:sp>
      <p:sp>
        <p:nvSpPr>
          <p:cNvPr id="27" name="chip inform text"/>
          <p:cNvSpPr txBox="1"/>
          <p:nvPr/>
        </p:nvSpPr>
        <p:spPr>
          <a:xfrm>
            <a:off x="6400800" y="3291840"/>
            <a:ext cx="1078992" cy="566928"/>
          </a:xfrm>
          <a:prstGeom prst="rect">
            <a:avLst/>
          </a:prstGeom>
          <a:noFill/>
          <a:ln/>
        </p:spPr>
        <p:txBody>
          <a:bodyPr wrap="square" lIns="0" tIns="0" rIns="0" bIns="0" rtlCol="0" anchor="ctr"/>
          <a:lstStyle/>
          <a:p>
            <a:pPr algn="ctr" indent="0" marL="0">
              <a:buNone/>
            </a:pPr>
            <a:r>
              <a:rPr lang="en-US" sz="1200" b="1" dirty="0">
                <a:solidFill>
                  <a:schemeClr val="tx2"/>
                </a:solidFill>
              </a:rPr>
              <a:t>inform</a:t>
            </a:r>
            <a:endParaRPr lang="en-US" sz="1200" dirty="0"/>
          </a:p>
          <a:p>
            <a:pPr algn="ctr" indent="0" marL="0">
              <a:buNone/>
            </a:pPr>
            <a:r>
              <a:rPr lang="en-US" sz="1200" dirty="0">
                <a:solidFill>
                  <a:schemeClr val="tx2"/>
                </a:solidFill>
              </a:rPr>
              <a:t>837</a:t>
            </a:r>
            <a:endParaRPr lang="en-US" sz="1200" dirty="0"/>
          </a:p>
        </p:txBody>
      </p:sp>
      <p:sp>
        <p:nvSpPr>
          <p:cNvPr id="28" name="chip failure"/>
          <p:cNvSpPr/>
          <p:nvPr/>
        </p:nvSpPr>
        <p:spPr>
          <a:xfrm>
            <a:off x="7589520" y="3291840"/>
            <a:ext cx="1078992" cy="566928"/>
          </a:xfrm>
          <a:prstGeom prst="roundRect">
            <a:avLst>
              <a:gd name="adj" fmla="val 12903"/>
            </a:avLst>
          </a:prstGeom>
          <a:solidFill>
            <a:schemeClr val="accent2"/>
          </a:solidFill>
          <a:ln w="12700">
            <a:solidFill>
              <a:schemeClr val="accent2"/>
            </a:solidFill>
            <a:prstDash val="solid"/>
          </a:ln>
        </p:spPr>
      </p:sp>
      <p:sp>
        <p:nvSpPr>
          <p:cNvPr id="29" name="chip failure text"/>
          <p:cNvSpPr txBox="1"/>
          <p:nvPr/>
        </p:nvSpPr>
        <p:spPr>
          <a:xfrm>
            <a:off x="7589520" y="3291840"/>
            <a:ext cx="1078992" cy="566928"/>
          </a:xfrm>
          <a:prstGeom prst="rect">
            <a:avLst/>
          </a:prstGeom>
          <a:noFill/>
          <a:ln/>
        </p:spPr>
        <p:txBody>
          <a:bodyPr wrap="square" lIns="0" tIns="0" rIns="0" bIns="0" rtlCol="0" anchor="ctr"/>
          <a:lstStyle/>
          <a:p>
            <a:pPr algn="ctr" indent="0" marL="0">
              <a:buNone/>
            </a:pPr>
            <a:r>
              <a:rPr lang="en-US" sz="1200" b="1" dirty="0">
                <a:solidFill>
                  <a:schemeClr val="bg1"/>
                </a:solidFill>
              </a:rPr>
              <a:t>failure</a:t>
            </a:r>
            <a:endParaRPr lang="en-US" sz="1200" dirty="0"/>
          </a:p>
          <a:p>
            <a:pPr algn="ctr" indent="0" marL="0">
              <a:buNone/>
            </a:pPr>
            <a:r>
              <a:rPr lang="en-US" sz="1200" dirty="0">
                <a:solidFill>
                  <a:schemeClr val="bg1"/>
                </a:solidFill>
              </a:rPr>
              <a:t>1</a:t>
            </a:r>
            <a:endParaRPr lang="en-US" sz="1200" dirty="0"/>
          </a:p>
        </p:txBody>
      </p:sp>
      <p:sp>
        <p:nvSpPr>
          <p:cNvPr id="30" name="rounds line"/>
          <p:cNvSpPr txBox="1"/>
          <p:nvPr/>
        </p:nvSpPr>
        <p:spPr>
          <a:xfrm>
            <a:off x="457200" y="4069080"/>
            <a:ext cx="8229600" cy="457200"/>
          </a:xfrm>
          <a:prstGeom prst="rect">
            <a:avLst/>
          </a:prstGeom>
          <a:noFill/>
          <a:ln/>
        </p:spPr>
        <p:txBody>
          <a:bodyPr wrap="square" lIns="0" tIns="0" rIns="0" bIns="0" rtlCol="0" anchor="ctr"/>
          <a:lstStyle/>
          <a:p>
            <a:pPr indent="0" marL="0">
              <a:buNone/>
            </a:pPr>
            <a:r>
              <a:rPr lang="en-US" sz="1300" dirty="0">
                <a:solidFill>
                  <a:schemeClr val="accent6"/>
                </a:solidFill>
              </a:rPr>
              <a:t>Negotiation rounds: 1 per month, 2 in month 0 (re-offer after failure)  ·  RO units placed: 5  ·  320 automated tests pass</a:t>
            </a:r>
            <a:endParaRPr lang="en-US" sz="13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Limitations and ethics</a:t>
            </a:r>
            <a:endParaRPr lang="en-US" sz="3600" dirty="0"/>
          </a:p>
        </p:txBody>
      </p:sp>
      <p:sp>
        <p:nvSpPr>
          <p:cNvPr id="3" name="limitations column"/>
          <p:cNvSpPr/>
          <p:nvPr/>
        </p:nvSpPr>
        <p:spPr>
          <a:xfrm>
            <a:off x="457200" y="1188720"/>
            <a:ext cx="3977640" cy="3337560"/>
          </a:xfrm>
          <a:prstGeom prst="roundRect">
            <a:avLst>
              <a:gd name="adj" fmla="val 2192"/>
            </a:avLst>
          </a:prstGeom>
          <a:solidFill>
            <a:schemeClr val="bg2"/>
          </a:solidFill>
          <a:ln w="12700">
            <a:solidFill>
              <a:schemeClr val="bg2"/>
            </a:solidFill>
            <a:prstDash val="solid"/>
          </a:ln>
        </p:spPr>
      </p:sp>
      <p:sp>
        <p:nvSpPr>
          <p:cNvPr id="4" name="limitations column circle"/>
          <p:cNvSpPr/>
          <p:nvPr/>
        </p:nvSpPr>
        <p:spPr>
          <a:xfrm>
            <a:off x="685800" y="1353312"/>
            <a:ext cx="548640" cy="548640"/>
          </a:xfrm>
          <a:prstGeom prst="ellipse">
            <a:avLst/>
          </a:prstGeom>
          <a:solidFill>
            <a:schemeClr val="accent2"/>
          </a:solidFill>
          <a:ln w="12700">
            <a:solidFill>
              <a:schemeClr val="accent2"/>
            </a:solidFill>
            <a:prstDash val="solid"/>
          </a:ln>
        </p:spPr>
      </p:sp>
      <p:pic>
        <p:nvPicPr>
          <p:cNvPr id="5" name="limitations column icon" descr="preencoded.png">    </p:cNvPr>
          <p:cNvPicPr>
            <a:picLocks noChangeAspect="1"/>
          </p:cNvPicPr>
          <p:nvPr/>
        </p:nvPicPr>
        <p:blipFill>
          <a:blip r:embed="rId1"/>
          <a:stretch>
            <a:fillRect/>
          </a:stretch>
        </p:blipFill>
        <p:spPr>
          <a:xfrm>
            <a:off x="833933" y="1501445"/>
            <a:ext cx="252374" cy="252374"/>
          </a:xfrm>
          <a:prstGeom prst="rect">
            <a:avLst/>
          </a:prstGeom>
        </p:spPr>
      </p:pic>
      <p:sp>
        <p:nvSpPr>
          <p:cNvPr id="6" name="limitations column head"/>
          <p:cNvSpPr txBox="1"/>
          <p:nvPr/>
        </p:nvSpPr>
        <p:spPr>
          <a:xfrm>
            <a:off x="1371600" y="1353312"/>
            <a:ext cx="2926080" cy="548640"/>
          </a:xfrm>
          <a:prstGeom prst="rect">
            <a:avLst/>
          </a:prstGeom>
          <a:noFill/>
          <a:ln/>
        </p:spPr>
        <p:txBody>
          <a:bodyPr wrap="square" lIns="0" tIns="0" rIns="0" bIns="0" rtlCol="0" anchor="ctr"/>
          <a:lstStyle/>
          <a:p>
            <a:pPr indent="0" marL="0">
              <a:buNone/>
            </a:pPr>
            <a:r>
              <a:rPr lang="en-US" sz="1800" b="1" dirty="0">
                <a:solidFill>
                  <a:schemeClr val="accent2"/>
                </a:solidFill>
              </a:rPr>
              <a:t>Limitations</a:t>
            </a:r>
            <a:endParaRPr lang="en-US" sz="1800" dirty="0"/>
          </a:p>
        </p:txBody>
      </p:sp>
      <p:sp>
        <p:nvSpPr>
          <p:cNvPr id="7" name="limitations column list"/>
          <p:cNvSpPr txBox="1"/>
          <p:nvPr/>
        </p:nvSpPr>
        <p:spPr>
          <a:xfrm>
            <a:off x="731520" y="2057400"/>
            <a:ext cx="352044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Well readings are synthetic; results show how the system works, not real outcomes</a:t>
            </a:r>
            <a:endParaRPr lang="en-US" sz="1400" dirty="0"/>
          </a:p>
          <a:p>
            <a:pPr marL="342900" indent="-342900">
              <a:spcAft>
                <a:spcPts val="600"/>
              </a:spcAft>
              <a:buSzPct val="100000"/>
              <a:buChar char="•"/>
            </a:pPr>
            <a:r>
              <a:rPr lang="en-US" sz="1400" dirty="0">
                <a:solidFill>
                  <a:schemeClr val="tx1"/>
                </a:solidFill>
              </a:rPr>
              <a:t>Two seasons repeated monthly; 8 of 13 WQI parameters</a:t>
            </a:r>
            <a:endParaRPr lang="en-US" sz="1400" dirty="0"/>
          </a:p>
          <a:p>
            <a:pPr marL="342900" indent="-342900">
              <a:spcAft>
                <a:spcPts val="600"/>
              </a:spcAft>
              <a:buSzPct val="100000"/>
              <a:buChar char="•"/>
            </a:pPr>
            <a:r>
              <a:rPr lang="en-US" sz="1400" dirty="0">
                <a:solidFill>
                  <a:schemeClr val="tx1"/>
                </a:solidFill>
              </a:rPr>
              <a:t>Hotspot rule and risk weight are project definitions</a:t>
            </a:r>
            <a:endParaRPr lang="en-US" sz="1400" dirty="0"/>
          </a:p>
          <a:p>
            <a:pPr marL="342900" indent="-342900">
              <a:spcAft>
                <a:spcPts val="600"/>
              </a:spcAft>
              <a:buSzPct val="100000"/>
              <a:buChar char="•"/>
            </a:pPr>
            <a:r>
              <a:rPr lang="en-US" sz="1400" dirty="0">
                <a:solidFill>
                  <a:schemeClr val="tx1"/>
                </a:solidFill>
              </a:rPr>
              <a:t>Delivery failure is a simulated test case</a:t>
            </a:r>
            <a:endParaRPr lang="en-US" sz="1400" dirty="0"/>
          </a:p>
        </p:txBody>
      </p:sp>
      <p:sp>
        <p:nvSpPr>
          <p:cNvPr id="8" name="ethics column"/>
          <p:cNvSpPr/>
          <p:nvPr/>
        </p:nvSpPr>
        <p:spPr>
          <a:xfrm>
            <a:off x="4709160" y="1188720"/>
            <a:ext cx="3977640" cy="3337560"/>
          </a:xfrm>
          <a:prstGeom prst="roundRect">
            <a:avLst>
              <a:gd name="adj" fmla="val 2192"/>
            </a:avLst>
          </a:prstGeom>
          <a:solidFill>
            <a:schemeClr val="bg2"/>
          </a:solidFill>
          <a:ln w="12700">
            <a:solidFill>
              <a:schemeClr val="bg2"/>
            </a:solidFill>
            <a:prstDash val="solid"/>
          </a:ln>
        </p:spPr>
      </p:sp>
      <p:sp>
        <p:nvSpPr>
          <p:cNvPr id="9" name="ethics column circle"/>
          <p:cNvSpPr/>
          <p:nvPr/>
        </p:nvSpPr>
        <p:spPr>
          <a:xfrm>
            <a:off x="4937760" y="1353312"/>
            <a:ext cx="548640" cy="548640"/>
          </a:xfrm>
          <a:prstGeom prst="ellipse">
            <a:avLst/>
          </a:prstGeom>
          <a:solidFill>
            <a:schemeClr val="tx2"/>
          </a:solidFill>
          <a:ln w="12700">
            <a:solidFill>
              <a:schemeClr val="tx2"/>
            </a:solidFill>
            <a:prstDash val="solid"/>
          </a:ln>
        </p:spPr>
      </p:sp>
      <p:pic>
        <p:nvPicPr>
          <p:cNvPr id="10" name="ethics column icon" descr="preencoded.png">    </p:cNvPr>
          <p:cNvPicPr>
            <a:picLocks noChangeAspect="1"/>
          </p:cNvPicPr>
          <p:nvPr/>
        </p:nvPicPr>
        <p:blipFill>
          <a:blip r:embed="rId2"/>
          <a:stretch>
            <a:fillRect/>
          </a:stretch>
        </p:blipFill>
        <p:spPr>
          <a:xfrm>
            <a:off x="5085893" y="1501445"/>
            <a:ext cx="252374" cy="252374"/>
          </a:xfrm>
          <a:prstGeom prst="rect">
            <a:avLst/>
          </a:prstGeom>
        </p:spPr>
      </p:pic>
      <p:sp>
        <p:nvSpPr>
          <p:cNvPr id="11" name="ethics column head"/>
          <p:cNvSpPr txBox="1"/>
          <p:nvPr/>
        </p:nvSpPr>
        <p:spPr>
          <a:xfrm>
            <a:off x="5623560" y="1353312"/>
            <a:ext cx="2926080" cy="548640"/>
          </a:xfrm>
          <a:prstGeom prst="rect">
            <a:avLst/>
          </a:prstGeom>
          <a:noFill/>
          <a:ln/>
        </p:spPr>
        <p:txBody>
          <a:bodyPr wrap="square" lIns="0" tIns="0" rIns="0" bIns="0" rtlCol="0" anchor="ctr"/>
          <a:lstStyle/>
          <a:p>
            <a:pPr indent="0" marL="0">
              <a:buNone/>
            </a:pPr>
            <a:r>
              <a:rPr lang="en-US" sz="1800" b="1" dirty="0">
                <a:solidFill>
                  <a:schemeClr val="tx2"/>
                </a:solidFill>
              </a:rPr>
              <a:t>Ethics</a:t>
            </a:r>
            <a:endParaRPr lang="en-US" sz="1800" dirty="0"/>
          </a:p>
        </p:txBody>
      </p:sp>
      <p:sp>
        <p:nvSpPr>
          <p:cNvPr id="12" name="ethics column list"/>
          <p:cNvSpPr txBox="1"/>
          <p:nvPr/>
        </p:nvSpPr>
        <p:spPr>
          <a:xfrm>
            <a:off x="4983480" y="2057400"/>
            <a:ext cx="352044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No individual patient data, only published aggregates</a:t>
            </a:r>
            <a:endParaRPr lang="en-US" sz="1400" dirty="0"/>
          </a:p>
          <a:p>
            <a:pPr marL="342900" indent="-342900">
              <a:spcAft>
                <a:spcPts val="600"/>
              </a:spcAft>
              <a:buSzPct val="100000"/>
              <a:buChar char="•"/>
            </a:pPr>
            <a:r>
              <a:rPr lang="en-US" sz="1400" dirty="0">
                <a:solidFill>
                  <a:schemeClr val="tx1"/>
                </a:solidFill>
              </a:rPr>
              <a:t>Risk indicators only, never a diagnosis</a:t>
            </a:r>
            <a:endParaRPr lang="en-US" sz="1400" dirty="0"/>
          </a:p>
          <a:p>
            <a:pPr marL="342900" indent="-342900">
              <a:spcAft>
                <a:spcPts val="600"/>
              </a:spcAft>
              <a:buSzPct val="100000"/>
              <a:buChar char="•"/>
            </a:pPr>
            <a:r>
              <a:rPr lang="en-US" sz="1400" dirty="0">
                <a:solidFill>
                  <a:schemeClr val="tx1"/>
                </a:solidFill>
              </a:rPr>
              <a:t>No claim that water causes CKDu</a:t>
            </a:r>
            <a:endParaRPr lang="en-US" sz="1400" dirty="0"/>
          </a:p>
          <a:p>
            <a:pPr marL="342900" indent="-342900">
              <a:spcAft>
                <a:spcPts val="600"/>
              </a:spcAft>
              <a:buSzPct val="100000"/>
              <a:buChar char="•"/>
            </a:pPr>
            <a:r>
              <a:rPr lang="en-US" sz="1400" dirty="0">
                <a:solidFill>
                  <a:schemeClr val="tx1"/>
                </a:solidFill>
              </a:rPr>
              <a:t>Synthetic data is always labelled</a:t>
            </a:r>
            <a:endParaRPr lang="en-US" sz="14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600" b="1" dirty="0">
                <a:solidFill>
                  <a:schemeClr val="tx2"/>
                </a:solidFill>
              </a:rPr>
              <a:t>References</a:t>
            </a:r>
            <a:endParaRPr lang="en-US" sz="3600" dirty="0"/>
          </a:p>
        </p:txBody>
      </p:sp>
      <p:sp>
        <p:nvSpPr>
          <p:cNvPr id="3" name="refs research circle"/>
          <p:cNvSpPr/>
          <p:nvPr/>
        </p:nvSpPr>
        <p:spPr>
          <a:xfrm>
            <a:off x="457200" y="1143000"/>
            <a:ext cx="457200" cy="457200"/>
          </a:xfrm>
          <a:prstGeom prst="ellipse">
            <a:avLst/>
          </a:prstGeom>
          <a:solidFill>
            <a:schemeClr val="tx2"/>
          </a:solidFill>
          <a:ln w="12700">
            <a:solidFill>
              <a:schemeClr val="tx2"/>
            </a:solidFill>
            <a:prstDash val="solid"/>
          </a:ln>
        </p:spPr>
      </p:sp>
      <p:pic>
        <p:nvPicPr>
          <p:cNvPr id="4" name="refs research icon" descr="preencoded.png">    </p:cNvPr>
          <p:cNvPicPr>
            <a:picLocks noChangeAspect="1"/>
          </p:cNvPicPr>
          <p:nvPr/>
        </p:nvPicPr>
        <p:blipFill>
          <a:blip r:embed="rId1"/>
          <a:stretch>
            <a:fillRect/>
          </a:stretch>
        </p:blipFill>
        <p:spPr>
          <a:xfrm>
            <a:off x="580644" y="1266444"/>
            <a:ext cx="210312" cy="210312"/>
          </a:xfrm>
          <a:prstGeom prst="rect">
            <a:avLst/>
          </a:prstGeom>
        </p:spPr>
      </p:pic>
      <p:sp>
        <p:nvSpPr>
          <p:cNvPr id="5" name="refs research head"/>
          <p:cNvSpPr txBox="1"/>
          <p:nvPr/>
        </p:nvSpPr>
        <p:spPr>
          <a:xfrm>
            <a:off x="1051560" y="1143000"/>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Research and data</a:t>
            </a:r>
            <a:endParaRPr lang="en-US" sz="1600" dirty="0"/>
          </a:p>
        </p:txBody>
      </p:sp>
      <p:sp>
        <p:nvSpPr>
          <p:cNvPr id="6" name="refs research list"/>
          <p:cNvSpPr txBox="1"/>
          <p:nvPr/>
        </p:nvSpPr>
        <p:spPr>
          <a:xfrm>
            <a:off x="457200" y="1737360"/>
            <a:ext cx="3931920" cy="2834640"/>
          </a:xfrm>
          <a:prstGeom prst="rect">
            <a:avLst/>
          </a:prstGeom>
          <a:noFill/>
          <a:ln/>
        </p:spPr>
        <p:txBody>
          <a:bodyPr wrap="square" lIns="0" tIns="0" rIns="0" bIns="0" rtlCol="0" anchor="t"/>
          <a:lstStyle/>
          <a:p>
            <a:pPr indent="0" marL="0">
              <a:spcAft>
                <a:spcPts val="800"/>
              </a:spcAft>
              <a:buNone/>
            </a:pPr>
            <a:r>
              <a:rPr lang="en-US" sz="1100" dirty="0">
                <a:solidFill>
                  <a:schemeClr val="tx1"/>
                </a:solidFill>
              </a:rPr>
              <a:t>Cooray, T. et al. (2019). Assessment of groundwater quality in CKDu affected areas of Sri Lanka. Int. J. Environ. Res. Public Health, 16(10), 1698.</a:t>
            </a:r>
            <a:endParaRPr lang="en-US" sz="1100" dirty="0"/>
          </a:p>
          <a:p>
            <a:pPr indent="0" marL="0">
              <a:spcAft>
                <a:spcPts val="800"/>
              </a:spcAft>
              <a:buNone/>
            </a:pPr>
            <a:r>
              <a:rPr lang="en-US" sz="1100" dirty="0">
                <a:solidFill>
                  <a:schemeClr val="tx1"/>
                </a:solidFill>
              </a:rPr>
              <a:t>Ranasinghe, A.V. et al. (2019). Incidence, prevalence and trends of CKD and CKDu in the North Central Province of Sri Lanka: an analysis of 30,566 patients. BMC Nephrology, 20, 338.</a:t>
            </a:r>
            <a:endParaRPr lang="en-US" sz="1100" dirty="0"/>
          </a:p>
          <a:p>
            <a:pPr indent="0" marL="0">
              <a:spcAft>
                <a:spcPts val="800"/>
              </a:spcAft>
              <a:buNone/>
            </a:pPr>
            <a:r>
              <a:rPr lang="en-US" sz="1100" dirty="0">
                <a:solidFill>
                  <a:schemeClr val="tx1"/>
                </a:solidFill>
              </a:rPr>
              <a:t>Nikagolla, C. et al. (2020). Using water quality and isotope studies to inform research in CKDu endemic areas in Sri Lanka. Sci. Total Environ., 745, 140896.</a:t>
            </a:r>
            <a:endParaRPr lang="en-US" sz="1100" dirty="0"/>
          </a:p>
          <a:p>
            <a:pPr indent="0" marL="0">
              <a:spcAft>
                <a:spcPts val="800"/>
              </a:spcAft>
              <a:buNone/>
            </a:pPr>
            <a:r>
              <a:rPr lang="en-US" sz="1100" dirty="0">
                <a:solidFill>
                  <a:schemeClr val="tx1"/>
                </a:solidFill>
              </a:rPr>
              <a:t>Department of Census and Statistics, Sri Lanka (2012). Census of Population and Housing 2012.  ·  OpenStreetMap contributors.</a:t>
            </a:r>
            <a:endParaRPr lang="en-US" sz="1100" dirty="0"/>
          </a:p>
        </p:txBody>
      </p:sp>
      <p:sp>
        <p:nvSpPr>
          <p:cNvPr id="7" name="refs methods circle"/>
          <p:cNvSpPr/>
          <p:nvPr/>
        </p:nvSpPr>
        <p:spPr>
          <a:xfrm>
            <a:off x="4754880" y="1143000"/>
            <a:ext cx="457200" cy="457200"/>
          </a:xfrm>
          <a:prstGeom prst="ellipse">
            <a:avLst/>
          </a:prstGeom>
          <a:solidFill>
            <a:schemeClr val="tx2"/>
          </a:solidFill>
          <a:ln w="12700">
            <a:solidFill>
              <a:schemeClr val="tx2"/>
            </a:solidFill>
            <a:prstDash val="solid"/>
          </a:ln>
        </p:spPr>
      </p:sp>
      <p:pic>
        <p:nvPicPr>
          <p:cNvPr id="8" name="refs methods icon" descr="preencoded.png">    </p:cNvPr>
          <p:cNvPicPr>
            <a:picLocks noChangeAspect="1"/>
          </p:cNvPicPr>
          <p:nvPr/>
        </p:nvPicPr>
        <p:blipFill>
          <a:blip r:embed="rId2"/>
          <a:stretch>
            <a:fillRect/>
          </a:stretch>
        </p:blipFill>
        <p:spPr>
          <a:xfrm>
            <a:off x="4878324" y="1266444"/>
            <a:ext cx="210312" cy="210312"/>
          </a:xfrm>
          <a:prstGeom prst="rect">
            <a:avLst/>
          </a:prstGeom>
        </p:spPr>
      </p:pic>
      <p:sp>
        <p:nvSpPr>
          <p:cNvPr id="9" name="refs methods head"/>
          <p:cNvSpPr txBox="1"/>
          <p:nvPr/>
        </p:nvSpPr>
        <p:spPr>
          <a:xfrm>
            <a:off x="5349240" y="1143000"/>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Methods and tools</a:t>
            </a:r>
            <a:endParaRPr lang="en-US" sz="1600" dirty="0"/>
          </a:p>
        </p:txBody>
      </p:sp>
      <p:sp>
        <p:nvSpPr>
          <p:cNvPr id="10" name="refs methods list"/>
          <p:cNvSpPr txBox="1"/>
          <p:nvPr/>
        </p:nvSpPr>
        <p:spPr>
          <a:xfrm>
            <a:off x="4754880" y="1737360"/>
            <a:ext cx="3931920" cy="2834640"/>
          </a:xfrm>
          <a:prstGeom prst="rect">
            <a:avLst/>
          </a:prstGeom>
          <a:noFill/>
          <a:ln/>
        </p:spPr>
        <p:txBody>
          <a:bodyPr wrap="square" lIns="0" tIns="0" rIns="0" bIns="0" rtlCol="0" anchor="t"/>
          <a:lstStyle/>
          <a:p>
            <a:pPr indent="0" marL="0">
              <a:spcAft>
                <a:spcPts val="800"/>
              </a:spcAft>
              <a:buNone/>
            </a:pPr>
            <a:r>
              <a:rPr lang="en-US" sz="1100" dirty="0">
                <a:solidFill>
                  <a:schemeClr val="tx1"/>
                </a:solidFill>
              </a:rPr>
              <a:t>Smith, R.G. (1980). The Contract Net Protocol: high-level communication and control in a distributed problem solver. IEEE Trans. Computers, C-29(12), 1104–1113.</a:t>
            </a:r>
            <a:endParaRPr lang="en-US" sz="1100" dirty="0"/>
          </a:p>
          <a:p>
            <a:pPr indent="0" marL="0">
              <a:spcAft>
                <a:spcPts val="800"/>
              </a:spcAft>
              <a:buNone/>
            </a:pPr>
            <a:r>
              <a:rPr lang="en-US" sz="1100" dirty="0">
                <a:solidFill>
                  <a:schemeClr val="tx1"/>
                </a:solidFill>
              </a:rPr>
              <a:t>FIPA (2002). FIPA Contract Net Interaction Protocol Specification (SC00029H).</a:t>
            </a:r>
            <a:endParaRPr lang="en-US" sz="1100" dirty="0"/>
          </a:p>
          <a:p>
            <a:pPr indent="0" marL="0">
              <a:spcAft>
                <a:spcPts val="800"/>
              </a:spcAft>
              <a:buNone/>
            </a:pPr>
            <a:r>
              <a:rPr lang="en-US" sz="1100" dirty="0">
                <a:solidFill>
                  <a:schemeClr val="tx1"/>
                </a:solidFill>
              </a:rPr>
              <a:t>Palanca, J. et al. (2020). SPADE 3: supporting the new generation of multi-agent systems. IEEE Access, 8, 182537–182549.</a:t>
            </a:r>
            <a:endParaRPr lang="en-US" sz="1100" dirty="0"/>
          </a:p>
          <a:p>
            <a:pPr indent="0" marL="0">
              <a:spcAft>
                <a:spcPts val="800"/>
              </a:spcAft>
              <a:buNone/>
            </a:pPr>
            <a:r>
              <a:rPr lang="en-US" sz="1100" dirty="0">
                <a:solidFill>
                  <a:schemeClr val="tx1"/>
                </a:solidFill>
              </a:rPr>
              <a:t>Python libraries: pandas, NumPy, SciPy, Streamlit, Folium, pytest.</a:t>
            </a:r>
            <a:endParaRPr lang="en-US" sz="11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7F8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conclusion title"/>
          <p:cNvSpPr txBox="1"/>
          <p:nvPr/>
        </p:nvSpPr>
        <p:spPr>
          <a:xfrm>
            <a:off x="548640" y="411480"/>
            <a:ext cx="512064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pic>
        <p:nvPicPr>
          <p:cNvPr id="3" name="takeaway 1 icon" descr="preencoded.png">    </p:cNvPr>
          <p:cNvPicPr>
            <a:picLocks noChangeAspect="1"/>
          </p:cNvPicPr>
          <p:nvPr/>
        </p:nvPicPr>
        <p:blipFill>
          <a:blip r:embed="rId1"/>
          <a:stretch>
            <a:fillRect/>
          </a:stretch>
        </p:blipFill>
        <p:spPr>
          <a:xfrm>
            <a:off x="548640" y="1261872"/>
            <a:ext cx="365760" cy="365760"/>
          </a:xfrm>
          <a:prstGeom prst="rect">
            <a:avLst/>
          </a:prstGeom>
        </p:spPr>
      </p:pic>
      <p:sp>
        <p:nvSpPr>
          <p:cNvPr id="4" name="takeaway 1"/>
          <p:cNvSpPr txBox="1"/>
          <p:nvPr/>
        </p:nvSpPr>
        <p:spPr>
          <a:xfrm>
            <a:off x="1097280" y="1280160"/>
            <a:ext cx="4572000" cy="777240"/>
          </a:xfrm>
          <a:prstGeom prst="rect">
            <a:avLst/>
          </a:prstGeom>
          <a:noFill/>
          <a:ln/>
        </p:spPr>
        <p:txBody>
          <a:bodyPr wrap="square" lIns="0" tIns="0" rIns="0" bIns="0" rtlCol="0" anchor="t"/>
          <a:lstStyle/>
          <a:p>
            <a:pPr indent="0" marL="0">
              <a:buNone/>
            </a:pPr>
            <a:r>
              <a:rPr lang="en-US" sz="1500" dirty="0">
                <a:solidFill>
                  <a:srgbClr val="FFFFFF"/>
                </a:solidFill>
              </a:rPr>
              <a:t>A working multi-agent system: 7 agent types, 31 agents, full Contract Net with failure and re-offer</a:t>
            </a:r>
            <a:endParaRPr lang="en-US" sz="1500" dirty="0"/>
          </a:p>
        </p:txBody>
      </p:sp>
      <p:pic>
        <p:nvPicPr>
          <p:cNvPr id="5" name="takeaway 2 icon" descr="preencoded.png">    </p:cNvPr>
          <p:cNvPicPr>
            <a:picLocks noChangeAspect="1"/>
          </p:cNvPicPr>
          <p:nvPr/>
        </p:nvPicPr>
        <p:blipFill>
          <a:blip r:embed="rId2"/>
          <a:stretch>
            <a:fillRect/>
          </a:stretch>
        </p:blipFill>
        <p:spPr>
          <a:xfrm>
            <a:off x="548640" y="2130552"/>
            <a:ext cx="365760" cy="365760"/>
          </a:xfrm>
          <a:prstGeom prst="rect">
            <a:avLst/>
          </a:prstGeom>
        </p:spPr>
      </p:pic>
      <p:sp>
        <p:nvSpPr>
          <p:cNvPr id="6" name="takeaway 2"/>
          <p:cNvSpPr txBox="1"/>
          <p:nvPr/>
        </p:nvSpPr>
        <p:spPr>
          <a:xfrm>
            <a:off x="1097280" y="2148840"/>
            <a:ext cx="4572000" cy="777240"/>
          </a:xfrm>
          <a:prstGeom prst="rect">
            <a:avLst/>
          </a:prstGeom>
          <a:noFill/>
          <a:ln/>
        </p:spPr>
        <p:txBody>
          <a:bodyPr wrap="square" lIns="0" tIns="0" rIns="0" bIns="0" rtlCol="0" anchor="t"/>
          <a:lstStyle/>
          <a:p>
            <a:pPr indent="0" marL="0">
              <a:buNone/>
            </a:pPr>
            <a:r>
              <a:rPr lang="en-US" sz="1500" dirty="0">
                <a:solidFill>
                  <a:srgbClr val="FFFFFF"/>
                </a:solidFill>
              </a:rPr>
              <a:t>Negotiation serves the villages with the worst water first and beats equal split</a:t>
            </a:r>
            <a:endParaRPr lang="en-US" sz="1500" dirty="0"/>
          </a:p>
        </p:txBody>
      </p:sp>
      <p:pic>
        <p:nvPicPr>
          <p:cNvPr id="7" name="takeaway 3 icon" descr="preencoded.png">    </p:cNvPr>
          <p:cNvPicPr>
            <a:picLocks noChangeAspect="1"/>
          </p:cNvPicPr>
          <p:nvPr/>
        </p:nvPicPr>
        <p:blipFill>
          <a:blip r:embed="rId3"/>
          <a:stretch>
            <a:fillRect/>
          </a:stretch>
        </p:blipFill>
        <p:spPr>
          <a:xfrm>
            <a:off x="548640" y="2999232"/>
            <a:ext cx="365760" cy="365760"/>
          </a:xfrm>
          <a:prstGeom prst="rect">
            <a:avLst/>
          </a:prstGeom>
        </p:spPr>
      </p:pic>
      <p:sp>
        <p:nvSpPr>
          <p:cNvPr id="8" name="takeaway 3"/>
          <p:cNvSpPr txBox="1"/>
          <p:nvPr/>
        </p:nvSpPr>
        <p:spPr>
          <a:xfrm>
            <a:off x="1097280" y="3017520"/>
            <a:ext cx="4572000" cy="777240"/>
          </a:xfrm>
          <a:prstGeom prst="rect">
            <a:avLst/>
          </a:prstGeom>
          <a:noFill/>
          <a:ln/>
        </p:spPr>
        <p:txBody>
          <a:bodyPr wrap="square" lIns="0" tIns="0" rIns="0" bIns="0" rtlCol="0" anchor="t"/>
          <a:lstStyle/>
          <a:p>
            <a:pPr indent="0" marL="0">
              <a:buNone/>
            </a:pPr>
            <a:r>
              <a:rPr lang="en-US" sz="1500" dirty="0">
                <a:solidFill>
                  <a:srgbClr val="FFFFFF"/>
                </a:solidFill>
              </a:rPr>
              <a:t>Honest, labelled, non-diagnostic risk indicators</a:t>
            </a:r>
            <a:endParaRPr lang="en-US" sz="1500" dirty="0"/>
          </a:p>
        </p:txBody>
      </p:sp>
      <p:sp>
        <p:nvSpPr>
          <p:cNvPr id="9" name="future work"/>
          <p:cNvSpPr txBox="1"/>
          <p:nvPr/>
        </p:nvSpPr>
        <p:spPr>
          <a:xfrm>
            <a:off x="548640" y="3840480"/>
            <a:ext cx="5486400" cy="685800"/>
          </a:xfrm>
          <a:prstGeom prst="rect">
            <a:avLst/>
          </a:prstGeom>
          <a:noFill/>
          <a:ln/>
        </p:spPr>
        <p:txBody>
          <a:bodyPr wrap="square" lIns="0" tIns="0" rIns="0" bIns="0" rtlCol="0" anchor="t"/>
          <a:lstStyle/>
          <a:p>
            <a:pPr indent="0" marL="0">
              <a:buNone/>
            </a:pPr>
            <a:r>
              <a:rPr lang="en-US" sz="1300" b="1" dirty="0">
                <a:solidFill>
                  <a:srgbClr val="F2A07B"/>
                </a:solidFill>
              </a:rPr>
              <a:t>Future work</a:t>
            </a:r>
            <a:endParaRPr lang="en-US" sz="1300" dirty="0"/>
          </a:p>
          <a:p>
            <a:pPr indent="0" marL="0">
              <a:buNone/>
            </a:pPr>
            <a:r>
              <a:rPr lang="en-US" sz="1300" dirty="0">
                <a:solidFill>
                  <a:srgbClr val="A9D3D8"/>
                </a:solidFill>
              </a:rPr>
              <a:t>Real well measurements  ·  all 13 WQI parameters  ·  bowser cost by distance</a:t>
            </a:r>
            <a:endParaRPr lang="en-US" sz="1300" dirty="0"/>
          </a:p>
        </p:txBody>
      </p:sp>
      <p:sp>
        <p:nvSpPr>
          <p:cNvPr id="10" name="thanks circle"/>
          <p:cNvSpPr/>
          <p:nvPr/>
        </p:nvSpPr>
        <p:spPr>
          <a:xfrm>
            <a:off x="6263640" y="1097280"/>
            <a:ext cx="2423160" cy="2423160"/>
          </a:xfrm>
          <a:prstGeom prst="ellipse">
            <a:avLst/>
          </a:prstGeom>
          <a:solidFill>
            <a:srgbClr val="FFFFFF">
              <a:alpha val="12000"/>
            </a:srgbClr>
          </a:solidFill>
          <a:ln w="19050">
            <a:solidFill>
              <a:srgbClr val="A9D3D8"/>
            </a:solidFill>
            <a:prstDash val="solid"/>
          </a:ln>
        </p:spPr>
      </p:sp>
      <p:sp>
        <p:nvSpPr>
          <p:cNvPr id="11" name="thanks text"/>
          <p:cNvSpPr txBox="1"/>
          <p:nvPr/>
        </p:nvSpPr>
        <p:spPr>
          <a:xfrm>
            <a:off x="6263640" y="1097280"/>
            <a:ext cx="2423160" cy="242316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Thank you</a:t>
            </a:r>
            <a:endParaRPr lang="en-US" sz="2800" dirty="0"/>
          </a:p>
          <a:p>
            <a:pPr algn="ctr" indent="0" marL="0">
              <a:buNone/>
            </a:pPr>
            <a:r>
              <a:rPr lang="en-US" sz="1800" dirty="0">
                <a:solidFill>
                  <a:srgbClr val="A9D3D8"/>
                </a:solidFill>
                <a:latin typeface="Cambria" pitchFamily="34" charset="0"/>
                <a:ea typeface="Cambria" pitchFamily="34" charset="-122"/>
                <a:cs typeface="Cambria" pitchFamily="34" charset="-120"/>
              </a:rPr>
              <a:t>Questions?</a:t>
            </a:r>
            <a:endParaRPr lang="en-US" sz="2800" dirty="0"/>
          </a:p>
        </p:txBody>
      </p:sp>
    </p:spTree>
  </p:cSld>
  <p:clrMapOvr>
    <a:masterClrMapping/>
  </p:clrMapOvr>
</p:sld>
</file>

<file path=ppt/theme/theme1.xml><?xml version="1.0" encoding="utf-8"?>
<a:theme xmlns:a="http://schemas.openxmlformats.org/drawingml/2006/main" name="CKDu Well Water">
  <a:themeElements>
    <a:clrScheme name="CKDu Well Water">
      <a:dk1>
        <a:srgbClr val="1F2A2E"/>
      </a:dk1>
      <a:lt1>
        <a:srgbClr val="FFFFFF"/>
      </a:lt1>
      <a:dk2>
        <a:srgbClr val="0E4A55"/>
      </a:dk2>
      <a:lt2>
        <a:srgbClr val="E8F3F4"/>
      </a:lt2>
      <a:accent1>
        <a:srgbClr val="0E4A55"/>
      </a:accent1>
      <a:accent2>
        <a:srgbClr val="C4572B"/>
      </a:accent2>
      <a:accent3>
        <a:srgbClr val="3A8D5C"/>
      </a:accent3>
      <a:accent4>
        <a:srgbClr val="D9962B"/>
      </a:accent4>
      <a:accent5>
        <a:srgbClr val="B23A2E"/>
      </a:accent5>
      <a:accent6>
        <a:srgbClr val="5B7F86"/>
      </a:accent6>
      <a:hlink>
        <a:srgbClr val="0E4A55"/>
      </a:hlink>
      <a:folHlink>
        <a:srgbClr val="5B7F86"/>
      </a:folHlink>
    </a:clrScheme>
    <a:fontScheme name="CKDu Well Wa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University of Sri Jayewardenepura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CKDu Well-Water Safety Network — Multi-Agent Systems</dc:title>
  <dc:subject>PptxGenJS Presentation</dc:subject>
  <dc:creator>CKDu MAS team</dc:creator>
  <cp:lastModifiedBy>CKDu MAS team</cp:lastModifiedBy>
  <cp:revision>1</cp:revision>
  <dcterms:created xsi:type="dcterms:W3CDTF">2026-10-25T17:16:09Z</dcterms:created>
  <dcterms:modified xsi:type="dcterms:W3CDTF">2026-10-25T17:16:09Z</dcterms:modified>
</cp:coreProperties>
</file>